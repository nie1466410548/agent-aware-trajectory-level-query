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reuters.com/technology/databricks-buy-startup-neon-1-billion-wsj-reports-2025-05-14/" TargetMode="External"/><Relationship Id="rId3" Type="http://schemas.openxmlformats.org/officeDocument/2006/relationships/hyperlink" Target="https://help.aliyun.com/zh/polardb/polardb-for-postgresql/polardb-agentic-postgresql-public-beta" TargetMode="External"/><Relationship Id="rId4" Type="http://schemas.openxmlformats.org/officeDocument/2006/relationships/hyperlink" Target="https://www.oceanbase.com/docs/common-oceanbase-database-ai-1000000006779059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ver-panel"/>
          <p:cNvGraphicFramePr>
            <a:graphicFrameLocks noGrp="1"/>
          </p:cNvGraphicFramePr>
          <p:nvPr/>
        </p:nvGraphicFramePr>
        <p:xfrm>
          <a:off x="7620000" y="0"/>
          <a:ext cx="4572000" cy="6858000"/>
        </p:xfrm>
        <a:graphic>
          <a:graphicData uri="http://schemas.openxmlformats.org/drawingml/2006/table">
            <a:tbl>
              <a:tblPr/>
              <a:tblGrid>
                <a:gridCol w="4572000"/>
              </a:tblGrid>
              <a:tr h="6858000"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30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q</a:t>
                      </a:r>
                      <a:r>
                        <a:rPr lang="en-US" sz="3000" noProof="1" b="1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  <a:r>
                        <a:rPr lang="en-US" sz="30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 → q</a:t>
                      </a:r>
                      <a:r>
                        <a:rPr lang="en-US" sz="3000" noProof="1" b="1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  <a:r>
                        <a:rPr lang="en-US" sz="30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 → q</a:t>
                      </a:r>
                      <a:r>
                        <a:rPr lang="en-US" sz="3000" noProof="1" b="1" baseline="-250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  <a:p>
                      <a:pPr algn="ctr">
                        <a:spcBef>
                          <a:spcPts val="1400"/>
                        </a:spcBef>
                      </a:pPr>
                      <a:r>
                        <a:rPr lang="en-US" sz="1200" noProof="1">
                          <a:solidFill>
                            <a:srgbClr val="CCDDFF"/>
                          </a:solidFill>
                          <a:latin typeface="Times New Roman"/>
                          <a:ea typeface="Times New Roman"/>
                        </a:rPr>
                        <a:t>同一数据子集，访问范围逐步收窄</a:t>
                      </a:r>
                    </a:p>
                    <a:p>
                      <a:pPr algn="ctr">
                        <a:spcBef>
                          <a:spcPts val="2200"/>
                        </a:spcBef>
                      </a:pPr>
                      <a:r>
                        <a:rPr lang="en-US" sz="1100" noProof="1">
                          <a:solidFill>
                            <a:srgbClr val="CCDDFF"/>
                          </a:solidFill>
                          <a:latin typeface="Times New Roman"/>
                          <a:ea typeface="Times New Roman"/>
                        </a:rPr>
                        <a:t>AGENT QUERY TRAJECTORY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3" name="cover-redrule"/>
          <p:cNvSpPr/>
          <p:nvPr/>
        </p:nvSpPr>
        <p:spPr>
          <a:xfrm>
            <a:off x="609600" y="1625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cover-kicker"/>
          <p:cNvSpPr txBox="1"/>
          <p:nvPr/>
        </p:nvSpPr>
        <p:spPr>
          <a:xfrm>
            <a:off x="609600" y="18288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spc="100" kern="0">
                <a:solidFill>
                  <a:srgbClr val="666666"/>
                </a:solidFill>
                <a:latin typeface="MiSans"/>
                <a:ea typeface="MiSans"/>
              </a:rPr>
              <a:t>研究课题立项汇报</a:t>
            </a:r>
            <a:endParaRPr lang="en-US" sz="1200" noProof="1"/>
          </a:p>
        </p:txBody>
      </p:sp>
      <p:sp>
        <p:nvSpPr>
          <p:cNvPr id="5" name="cover-title"/>
          <p:cNvSpPr txBox="1"/>
          <p:nvPr/>
        </p:nvSpPr>
        <p:spPr>
          <a:xfrm>
            <a:off x="609600" y="2260600"/>
            <a:ext cx="6604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35000"/>
              </a:lnSpc>
            </a:pPr>
            <a:r>
              <a:rPr lang="en-US" sz="3400" noProof="1" b="1">
                <a:solidFill>
                  <a:srgbClr val="1D1D1A"/>
                </a:solidFill>
                <a:latin typeface="MiSans"/>
                <a:ea typeface="MiSans"/>
              </a:rPr>
              <a:t>面向智能体工作负载的</a:t>
            </a:r>
            <a:endParaRPr lang="en-US" sz="3400" noProof="1"/>
          </a:p>
          <a:p>
            <a:pPr>
              <a:lnSpc>
                <a:spcPct val="135000"/>
              </a:lnSpc>
            </a:pPr>
            <a:r>
              <a:rPr lang="en-US" sz="3400" noProof="1" b="1">
                <a:solidFill>
                  <a:srgbClr val="1D1D1A"/>
                </a:solidFill>
                <a:latin typeface="MiSans"/>
                <a:ea typeface="MiSans"/>
              </a:rPr>
              <a:t>轨迹级查询处理与优化</a:t>
            </a:r>
            <a:endParaRPr lang="en-US" sz="3400" noProof="1"/>
          </a:p>
        </p:txBody>
      </p:sp>
      <p:sp>
        <p:nvSpPr>
          <p:cNvPr id="6" name="cover-subtitle"/>
          <p:cNvSpPr txBox="1"/>
          <p:nvPr/>
        </p:nvSpPr>
        <p:spPr>
          <a:xfrm>
            <a:off x="609600" y="3708400"/>
            <a:ext cx="660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666666"/>
                </a:solidFill>
                <a:latin typeface="MiSans"/>
                <a:ea typeface="MiSans"/>
              </a:rPr>
              <a:t>Agent-Aware Trajectory-Level Query Processing</a:t>
            </a:r>
            <a:endParaRPr lang="en-US" sz="1300" noProof="1"/>
          </a:p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666666"/>
                </a:solidFill>
                <a:latin typeface="MiSans"/>
                <a:ea typeface="MiSans"/>
              </a:rPr>
              <a:t>and Optimization</a:t>
            </a:r>
            <a:endParaRPr lang="en-US" sz="1300" noProof="1"/>
          </a:p>
        </p:txBody>
      </p:sp>
      <p:sp>
        <p:nvSpPr>
          <p:cNvPr id="7" name="cover-claim"/>
          <p:cNvSpPr txBox="1"/>
          <p:nvPr/>
        </p:nvSpPr>
        <p:spPr>
          <a:xfrm>
            <a:off x="609600" y="4521200"/>
            <a:ext cx="6604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4D4D4D"/>
                </a:solidFill>
                <a:latin typeface="MiSans"/>
                <a:ea typeface="MiSans"/>
              </a:rPr>
              <a:t>从单条 SQL 优化，走向持续演化的 Agent 查询轨迹优化。</a:t>
            </a:r>
            <a:endParaRPr lang="en-US" sz="1500" noProof="1"/>
          </a:p>
        </p:txBody>
      </p:sp>
      <p:sp>
        <p:nvSpPr>
          <p:cNvPr id="8" name="cover-tagline"/>
          <p:cNvSpPr txBox="1"/>
          <p:nvPr/>
        </p:nvSpPr>
        <p:spPr>
          <a:xfrm>
            <a:off x="609600" y="4953000"/>
            <a:ext cx="660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i="1">
                <a:solidFill>
                  <a:srgbClr val="A3A3A3"/>
                </a:solidFill>
                <a:latin typeface="MiSans"/>
                <a:ea typeface="MiSans"/>
              </a:rPr>
              <a:t>Future Query Unknown, Future Intent Visible.</a:t>
            </a:r>
            <a:endParaRPr lang="en-US" sz="1100" noProof="1"/>
          </a:p>
        </p:txBody>
      </p:sp>
      <p:sp>
        <p:nvSpPr>
          <p:cNvPr id="9" name="cover-meta"/>
          <p:cNvSpPr txBox="1"/>
          <p:nvPr/>
        </p:nvSpPr>
        <p:spPr>
          <a:xfrm>
            <a:off x="609600" y="6350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汇报人：___　｜　部门：___　｜　2026-09</a:t>
            </a:r>
            <a:endParaRPr lang="en-US" sz="9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Agent 正在改变数据库的使用方式，但查询优化仍以单条 SQL 为主</a:t>
            </a:r>
            <a:endParaRPr lang="en-US" sz="2500" noProof="1"/>
          </a:p>
        </p:txBody>
      </p:sp>
      <p:sp>
        <p:nvSpPr>
          <p:cNvPr id="3" name="p2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01 · 行业观察</a:t>
            </a:r>
            <a:endParaRPr lang="en-US" sz="1000" noProof="1"/>
          </a:p>
        </p:txBody>
      </p:sp>
      <p:sp>
        <p:nvSpPr>
          <p:cNvPr id="4" name="p2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2-left-head"/>
          <p:cNvSpPr txBox="1"/>
          <p:nvPr/>
        </p:nvSpPr>
        <p:spPr>
          <a:xfrm>
            <a:off x="609600" y="1117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海外 · 2025</a:t>
            </a:r>
            <a:endParaRPr lang="en-US" sz="1300" noProof="1"/>
          </a:p>
        </p:txBody>
      </p:sp>
      <p:sp>
        <p:nvSpPr>
          <p:cNvPr id="6" name="p2-left-line"/>
          <p:cNvSpPr/>
          <p:nvPr/>
        </p:nvSpPr>
        <p:spPr>
          <a:xfrm>
            <a:off x="609600" y="1422400"/>
            <a:ext cx="53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7" name="p2-left-items"/>
          <p:cNvSpPr txBox="1"/>
          <p:nvPr/>
        </p:nvSpPr>
        <p:spPr>
          <a:xfrm>
            <a:off x="609600" y="1549400"/>
            <a:ext cx="53340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Databricks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$1B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收购 Neon（2025.5）；Lakebase 进入 Public Preview（2025.6）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Neon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｜约 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80%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 数据库由自动化 Agent 部署，可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亚秒级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创建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Snowflake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｜收购 Crunchy Data；AWS / Google 加速布局 Postgres</a:t>
            </a:r>
            <a:endParaRPr lang="en-US" sz="1100" noProof="1"/>
          </a:p>
        </p:txBody>
      </p:sp>
      <p:sp>
        <p:nvSpPr>
          <p:cNvPr id="8" name="p2-right-head"/>
          <p:cNvSpPr txBox="1"/>
          <p:nvPr/>
        </p:nvSpPr>
        <p:spPr>
          <a:xfrm>
            <a:off x="6299200" y="11176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国内 · 2026</a:t>
            </a:r>
            <a:endParaRPr lang="en-US" sz="1300" noProof="1"/>
          </a:p>
        </p:txBody>
      </p:sp>
      <p:sp>
        <p:nvSpPr>
          <p:cNvPr id="9" name="p2-right-line"/>
          <p:cNvSpPr/>
          <p:nvPr/>
        </p:nvSpPr>
        <p:spPr>
          <a:xfrm>
            <a:off x="6299200" y="1422400"/>
            <a:ext cx="52832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0" name="p2-right-items"/>
          <p:cNvSpPr txBox="1"/>
          <p:nvPr/>
        </p:nvSpPr>
        <p:spPr>
          <a:xfrm>
            <a:off x="6299200" y="1549400"/>
            <a:ext cx="5283200" cy="162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阿里云 PolarDB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｜推出 Agentic Database：Scale-to-Zero、秒级数据 Branch、MCP Native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腾讯云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｜发布 AI 数据底座 TDSQL Nexa（2026.8）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OceanBase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｜Fork Table / Database 低开销数据分支与隔离试验；</a:t>
            </a:r>
            <a:r>
              <a:rPr lang="en-US" sz="1100" noProof="1" b="1">
                <a:solidFill>
                  <a:srgbClr val="4D4D4D"/>
                </a:solidFill>
                <a:latin typeface="MiSans"/>
                <a:ea typeface="MiSans"/>
              </a:rPr>
              <a:t>SelectDB</a:t>
            </a: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｜升级 Agent Native 数据基础设施</a:t>
            </a:r>
            <a:endParaRPr lang="en-US" sz="1100" noProof="1"/>
          </a:p>
        </p:txBody>
      </p:sp>
      <p:graphicFrame>
        <p:nvGraphicFramePr>
          <p:cNvPr id="11" name="p2-table"/>
          <p:cNvGraphicFramePr>
            <a:graphicFrameLocks noGrp="1"/>
          </p:cNvGraphicFramePr>
          <p:nvPr/>
        </p:nvGraphicFramePr>
        <p:xfrm>
          <a:off x="609600" y="3327400"/>
          <a:ext cx="10972800" cy="1676400"/>
        </p:xfrm>
        <a:graphic>
          <a:graphicData uri="http://schemas.openxmlformats.org/drawingml/2006/table">
            <a:tbl>
              <a:tblPr/>
              <a:tblGrid>
                <a:gridCol w="6035040"/>
                <a:gridCol w="4937760"/>
              </a:tblGrid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厂商在做什么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解决什么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快速拉起 / 销毁 / Scale-to-Zero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「用得上」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Data Branch / Fork / 数据沙箱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「用得安全」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Agent Memory / 记忆存储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「记得住」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MCP Server / 语义层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让 Agent 「会查询」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p2-band"/>
          <p:cNvGraphicFramePr>
            <a:graphicFrameLocks noGrp="1"/>
          </p:cNvGraphicFramePr>
          <p:nvPr/>
        </p:nvGraphicFramePr>
        <p:xfrm>
          <a:off x="609600" y="5181600"/>
          <a:ext cx="10972800" cy="9398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939800">
                <a:tc>
                  <a:txBody>
                    <a:bodyPr wrap="square" rtlCol="0" anchor="ctr"/>
                    <a:lstStyle/>
                    <a:p>
                      <a:pPr algn="l" marL="177800"/>
                      <a:r>
                        <a:rPr lang="en-US" sz="120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当前 Agent-Native 数据库能力集中于实例弹性、数据分支、记忆/语义与接入；对 Agent 连续产生的相关 SQL，查询优化仍以单条 Query 为边界。</a:t>
                      </a:r>
                    </a:p>
                    <a:p>
                      <a:pPr algn="l" marL="177800">
                        <a:spcBef>
                          <a:spcPts val="600"/>
                        </a:spcBef>
                      </a:pPr>
                      <a:r>
                        <a:rPr lang="en-US" sz="1150" noProof="1">
                          <a:solidFill>
                            <a:srgbClr val="CCDDFF"/>
                          </a:solidFill>
                          <a:latin typeface="Times New Roman"/>
                          <a:ea typeface="Times New Roman"/>
                        </a:rPr>
                        <a:t>本课题切入点：让数据库的查询优化与执行，面向 Agent Trajectory Workload 重新设计。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</a:tr>
            </a:tbl>
          </a:graphicData>
        </a:graphic>
      </p:graphicFrame>
      <p:sp>
        <p:nvSpPr>
          <p:cNvPr id="13" name="p2-footnote"/>
          <p:cNvSpPr txBox="1"/>
          <p:nvPr/>
        </p:nvSpPr>
        <p:spPr>
          <a:xfrm>
            <a:off x="609600" y="62738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来源：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2"/>
              </a:rPr>
              <a:t>Reuters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（2025.05）、Neon 官方文档、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3"/>
              </a:rPr>
              <a:t>阿里云 PolarDB 文档</a:t>
            </a: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、腾讯云（2026.08）、</a:t>
            </a:r>
            <a:r>
              <a:rPr lang="en-US" sz="900" noProof="1" u="sng">
                <a:solidFill>
                  <a:srgbClr val="0563C1"/>
                </a:solidFill>
                <a:latin typeface="MiSans"/>
                <a:ea typeface="MiSans"/>
                <a:hlinkClick r:id="rId4"/>
              </a:rPr>
              <a:t>OceanBase 文档中心</a:t>
            </a:r>
            <a:endParaRPr lang="en-US" sz="900" noProof="1"/>
          </a:p>
        </p:txBody>
      </p:sp>
      <p:sp>
        <p:nvSpPr>
          <p:cNvPr id="14" name="p2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2 / 7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3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Agent 的数据库访问不是一条 SQL，而是一条结果驱动的查询轨迹</a:t>
            </a:r>
            <a:endParaRPr lang="en-US" sz="2500" noProof="1"/>
          </a:p>
        </p:txBody>
      </p:sp>
      <p:sp>
        <p:nvSpPr>
          <p:cNvPr id="3" name="p3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  <a:endParaRPr lang="en-US" sz="1000" noProof="1"/>
          </a:p>
        </p:txBody>
      </p:sp>
      <p:sp>
        <p:nvSpPr>
          <p:cNvPr id="4" name="p3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3-left-head"/>
          <p:cNvSpPr txBox="1"/>
          <p:nvPr/>
        </p:nvSpPr>
        <p:spPr>
          <a:xfrm>
            <a:off x="609600" y="11684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传统访问模式</a:t>
            </a:r>
            <a:endParaRPr lang="en-US" sz="1300" noProof="1"/>
          </a:p>
        </p:txBody>
      </p:sp>
      <p:sp>
        <p:nvSpPr>
          <p:cNvPr id="6" name="p3-left-line"/>
          <p:cNvSpPr/>
          <p:nvPr/>
        </p:nvSpPr>
        <p:spPr>
          <a:xfrm>
            <a:off x="609600" y="1473200"/>
            <a:ext cx="3810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7" name="p3-left-flow"/>
          <p:cNvSpPr txBox="1"/>
          <p:nvPr/>
        </p:nvSpPr>
        <p:spPr>
          <a:xfrm>
            <a:off x="609600" y="1651000"/>
            <a:ext cx="3810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人 / 应用程序　→　发出 SQL</a:t>
            </a:r>
            <a:endParaRPr lang="en-US" sz="1250" noProof="1"/>
          </a:p>
          <a:p>
            <a:pPr algn="l">
              <a:lnSpc>
                <a:spcPct val="145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→　数据库逐条响应</a:t>
            </a:r>
            <a:endParaRPr lang="en-US" sz="125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Query → Optimizer → Execution</a:t>
            </a:r>
            <a:endParaRPr lang="en-US" sz="1250" noProof="1"/>
          </a:p>
        </p:txBody>
      </p:sp>
      <p:sp>
        <p:nvSpPr>
          <p:cNvPr id="8" name="p3-left-note"/>
          <p:cNvSpPr txBox="1"/>
          <p:nvPr/>
        </p:nvSpPr>
        <p:spPr>
          <a:xfrm>
            <a:off x="609600" y="2667000"/>
            <a:ext cx="381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在主流 DBMS 的在线执行路径中，Query Optimizer 通常</a:t>
            </a:r>
            <a:r>
              <a:rPr lang="en-US" sz="1150" noProof="1" b="1">
                <a:solidFill>
                  <a:srgbClr val="4D4D4D"/>
                </a:solidFill>
                <a:latin typeface="MiSans"/>
                <a:ea typeface="MiSans"/>
              </a:rPr>
              <a:t>针对当前 SQL 独立生成执行计划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。</a:t>
            </a:r>
            <a:endParaRPr lang="en-US" sz="1150" noProof="1"/>
          </a:p>
        </p:txBody>
      </p:sp>
      <p:sp>
        <p:nvSpPr>
          <p:cNvPr id="9" name="p3-left-view"/>
          <p:cNvSpPr txBox="1"/>
          <p:nvPr/>
        </p:nvSpPr>
        <p:spPr>
          <a:xfrm>
            <a:off x="609600" y="4191000"/>
            <a:ext cx="381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50" noProof="1" b="1">
                <a:solidFill>
                  <a:srgbClr val="666666"/>
                </a:solidFill>
                <a:latin typeface="MiSans"/>
                <a:ea typeface="MiSans"/>
              </a:rPr>
              <a:t>数据库的视角</a:t>
            </a:r>
            <a:r>
              <a:rPr lang="en-US" sz="1150" noProof="1">
                <a:solidFill>
                  <a:srgbClr val="666666"/>
                </a:solidFill>
                <a:latin typeface="MiSans"/>
                <a:ea typeface="MiSans"/>
              </a:rPr>
              <a:t>：</a:t>
            </a:r>
            <a:endParaRPr lang="en-US" sz="11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150" noProof="1">
                <a:solidFill>
                  <a:srgbClr val="666666"/>
                </a:solidFill>
                <a:latin typeface="MiSans"/>
                <a:ea typeface="MiSans"/>
              </a:rPr>
              <a:t>q</a:t>
            </a:r>
            <a:r>
              <a:rPr lang="en-US" sz="1150" noProof="1" baseline="-25000">
                <a:solidFill>
                  <a:srgbClr val="666666"/>
                </a:solidFill>
                <a:latin typeface="MiSans"/>
                <a:ea typeface="MiSans"/>
              </a:rPr>
              <a:t>1</a:t>
            </a:r>
            <a:r>
              <a:rPr lang="en-US" sz="1150" noProof="1">
                <a:solidFill>
                  <a:srgbClr val="666666"/>
                </a:solidFill>
                <a:latin typeface="MiSans"/>
                <a:ea typeface="MiSans"/>
              </a:rPr>
              <a:t>、q</a:t>
            </a:r>
            <a:r>
              <a:rPr lang="en-US" sz="1150" noProof="1" baseline="-25000">
                <a:solidFill>
                  <a:srgbClr val="666666"/>
                </a:solidFill>
                <a:latin typeface="MiSans"/>
                <a:ea typeface="MiSans"/>
              </a:rPr>
              <a:t>2</a:t>
            </a:r>
            <a:r>
              <a:rPr lang="en-US" sz="1150" noProof="1">
                <a:solidFill>
                  <a:srgbClr val="666666"/>
                </a:solidFill>
                <a:latin typeface="MiSans"/>
                <a:ea typeface="MiSans"/>
              </a:rPr>
              <a:t>、q</a:t>
            </a:r>
            <a:r>
              <a:rPr lang="en-US" sz="1150" noProof="1" baseline="-25000">
                <a:solidFill>
                  <a:srgbClr val="666666"/>
                </a:solidFill>
                <a:latin typeface="MiSans"/>
                <a:ea typeface="MiSans"/>
              </a:rPr>
              <a:t>3</a:t>
            </a:r>
            <a:r>
              <a:rPr lang="en-US" sz="1150" noProof="1">
                <a:solidFill>
                  <a:srgbClr val="666666"/>
                </a:solidFill>
                <a:latin typeface="MiSans"/>
                <a:ea typeface="MiSans"/>
              </a:rPr>
              <a:t>——三条互不相干的独立查询，各自优化、各自执行。</a:t>
            </a:r>
            <a:endParaRPr lang="en-US" sz="1150" noProof="1"/>
          </a:p>
        </p:txBody>
      </p:sp>
      <p:sp>
        <p:nvSpPr>
          <p:cNvPr id="10" name="p3-divider"/>
          <p:cNvSpPr/>
          <p:nvPr/>
        </p:nvSpPr>
        <p:spPr>
          <a:xfrm>
            <a:off x="4724400" y="1219200"/>
            <a:ext cx="12700" cy="47244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1" name="p3-right-head"/>
          <p:cNvSpPr txBox="1"/>
          <p:nvPr/>
        </p:nvSpPr>
        <p:spPr>
          <a:xfrm>
            <a:off x="5080000" y="1168400"/>
            <a:ext cx="6502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Agent 访问模式</a:t>
            </a:r>
            <a:endParaRPr lang="en-US" sz="1300" noProof="1"/>
          </a:p>
        </p:txBody>
      </p:sp>
      <p:sp>
        <p:nvSpPr>
          <p:cNvPr id="12" name="p3-right-line"/>
          <p:cNvSpPr/>
          <p:nvPr/>
        </p:nvSpPr>
        <p:spPr>
          <a:xfrm>
            <a:off x="5080000" y="1473200"/>
            <a:ext cx="6502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graphicFrame>
        <p:nvGraphicFramePr>
          <p:cNvPr id="13" name="p3-task"/>
          <p:cNvGraphicFramePr>
            <a:graphicFrameLocks noGrp="1"/>
          </p:cNvGraphicFramePr>
          <p:nvPr/>
        </p:nvGraphicFramePr>
        <p:xfrm>
          <a:off x="5080000" y="1625600"/>
          <a:ext cx="6502400" cy="431800"/>
        </p:xfrm>
        <a:graphic>
          <a:graphicData uri="http://schemas.openxmlformats.org/drawingml/2006/table">
            <a:tbl>
              <a:tblPr/>
              <a:tblGrid>
                <a:gridCol w="6502400"/>
              </a:tblGrid>
              <a:tr h="4318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0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高层任务</a:t>
                      </a:r>
                      <a:r>
                        <a:rPr lang="en-US" sz="1200" noProof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：「分析 8 月份收入下降的原因。」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p3-traj"/>
          <p:cNvSpPr txBox="1"/>
          <p:nvPr/>
        </p:nvSpPr>
        <p:spPr>
          <a:xfrm>
            <a:off x="5080000" y="2235200"/>
            <a:ext cx="6502400" cy="167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1</a:t>
            </a:r>
            <a:r>
              <a:rPr lang="en-US" sz="1200" noProof="1">
                <a:solidFill>
                  <a:srgbClr val="4D4D4D"/>
                </a:solidFill>
                <a:latin typeface="MiSans"/>
                <a:ea typeface="MiSans"/>
              </a:rPr>
              <a:t>　按国家统计收入　</a:t>
            </a:r>
            <a:r>
              <a:rPr lang="en-US" sz="1200" noProof="1" i="1">
                <a:solidFill>
                  <a:srgbClr val="666666"/>
                </a:solidFill>
                <a:latin typeface="MiSans"/>
                <a:ea typeface="MiSans"/>
              </a:rPr>
              <a:t>→ 发现加拿大下降最显著</a:t>
            </a:r>
            <a:endParaRPr lang="en-US" sz="12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2</a:t>
            </a:r>
            <a:r>
              <a:rPr lang="en-US" sz="1200" noProof="1">
                <a:solidFill>
                  <a:srgbClr val="4D4D4D"/>
                </a:solidFill>
                <a:latin typeface="MiSans"/>
                <a:ea typeface="MiSans"/>
              </a:rPr>
              <a:t>　下钻加拿大各产品线收入　</a:t>
            </a:r>
            <a:r>
              <a:rPr lang="en-US" sz="1200" noProof="1" i="1">
                <a:solidFill>
                  <a:srgbClr val="666666"/>
                </a:solidFill>
                <a:latin typeface="MiSans"/>
                <a:ea typeface="MiSans"/>
              </a:rPr>
              <a:t>→ 发现某产品异常</a:t>
            </a:r>
            <a:endParaRPr lang="en-US" sz="12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3</a:t>
            </a:r>
            <a:r>
              <a:rPr lang="en-US" sz="1200" noProof="1">
                <a:solidFill>
                  <a:srgbClr val="4D4D4D"/>
                </a:solidFill>
                <a:latin typeface="MiSans"/>
                <a:ea typeface="MiSans"/>
              </a:rPr>
              <a:t>　分析加拿大客户类型构成</a:t>
            </a:r>
            <a:endParaRPr lang="en-US" sz="12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C00000"/>
                </a:solidFill>
                <a:latin typeface="MiSans"/>
                <a:ea typeface="MiSans"/>
              </a:rPr>
              <a:t>4</a:t>
            </a:r>
            <a:r>
              <a:rPr lang="en-US" sz="1200" noProof="1">
                <a:solidFill>
                  <a:srgbClr val="4D4D4D"/>
                </a:solidFill>
                <a:latin typeface="MiSans"/>
                <a:ea typeface="MiSans"/>
              </a:rPr>
              <a:t>　回溯异常产品的时间趋势做验证</a:t>
            </a:r>
            <a:endParaRPr lang="en-US" sz="1200" noProof="1"/>
          </a:p>
        </p:txBody>
      </p:sp>
      <p:sp>
        <p:nvSpPr>
          <p:cNvPr id="15" name="p3-right-note"/>
          <p:cNvSpPr txBox="1"/>
          <p:nvPr/>
        </p:nvSpPr>
        <p:spPr>
          <a:xfrm>
            <a:off x="5080000" y="4013200"/>
            <a:ext cx="6502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50" noProof="1" b="1">
                <a:solidFill>
                  <a:srgbClr val="4D4D4D"/>
                </a:solidFill>
                <a:latin typeface="MiSans"/>
                <a:ea typeface="MiSans"/>
              </a:rPr>
              <a:t>后续查询由前序查询结果决定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；查询之间共享数据范围、谓词、聚合维度与中间结果。</a:t>
            </a:r>
            <a:endParaRPr lang="en-US" sz="1150" noProof="1"/>
          </a:p>
        </p:txBody>
      </p:sp>
      <p:sp>
        <p:nvSpPr>
          <p:cNvPr id="16" name="p3-hint"/>
          <p:cNvSpPr txBox="1"/>
          <p:nvPr/>
        </p:nvSpPr>
        <p:spPr>
          <a:xfrm>
            <a:off x="5080000" y="4724400"/>
            <a:ext cx="6502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q</a:t>
            </a:r>
            <a:r>
              <a:rPr lang="en-US" sz="1100" noProof="1" baseline="-25000">
                <a:solidFill>
                  <a:srgbClr val="666666"/>
                </a:solidFill>
                <a:latin typeface="MiSans"/>
                <a:ea typeface="MiSans"/>
              </a:rPr>
              <a:t>1</a:t>
            </a: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 → Result → Agent decides → q</a:t>
            </a:r>
            <a:r>
              <a:rPr lang="en-US" sz="1100" noProof="1" baseline="-25000">
                <a:solidFill>
                  <a:srgbClr val="666666"/>
                </a:solidFill>
                <a:latin typeface="MiSans"/>
                <a:ea typeface="MiSans"/>
              </a:rPr>
              <a:t>2</a:t>
            </a:r>
            <a:endParaRPr lang="en-US" sz="11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数据库看不到未来——但 Agent 此刻往往</a:t>
            </a:r>
            <a:r>
              <a:rPr lang="en-US" sz="1100" noProof="1" b="1">
                <a:solidFill>
                  <a:srgbClr val="C00000"/>
                </a:solidFill>
                <a:latin typeface="MiSans"/>
                <a:ea typeface="MiSans"/>
              </a:rPr>
              <a:t>已有候选下一步</a:t>
            </a: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。</a:t>
            </a:r>
            <a:endParaRPr lang="en-US" sz="1100" noProof="1"/>
          </a:p>
        </p:txBody>
      </p:sp>
      <p:graphicFrame>
        <p:nvGraphicFramePr>
          <p:cNvPr id="17" name="p3-takeaway"/>
          <p:cNvGraphicFramePr>
            <a:graphicFrameLocks noGrp="1"/>
          </p:cNvGraphicFramePr>
          <p:nvPr/>
        </p:nvGraphicFramePr>
        <p:xfrm>
          <a:off x="609600" y="6299200"/>
          <a:ext cx="10972800" cy="3556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一个 Agent 任务 = 一条持续演化、结果依赖的查询轨迹；但数据库看到的仍是一串「互不相识」的单查询。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" name="p3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3 / 7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4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单查询最优 ≠ Agent 任务最优</a:t>
            </a:r>
            <a:endParaRPr lang="en-US" sz="2500" noProof="1"/>
          </a:p>
        </p:txBody>
      </p:sp>
      <p:sp>
        <p:nvSpPr>
          <p:cNvPr id="3" name="p4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  <a:endParaRPr lang="en-US" sz="1000" noProof="1"/>
          </a:p>
        </p:txBody>
      </p:sp>
      <p:sp>
        <p:nvSpPr>
          <p:cNvPr id="4" name="p4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aphicFrame>
        <p:nvGraphicFramePr>
          <p:cNvPr id="5" name="p4-sql"/>
          <p:cNvGraphicFramePr>
            <a:graphicFrameLocks noGrp="1"/>
          </p:cNvGraphicFramePr>
          <p:nvPr/>
        </p:nvGraphicFramePr>
        <p:xfrm>
          <a:off x="609600" y="1168400"/>
          <a:ext cx="6350000" cy="1879600"/>
        </p:xfrm>
        <a:graphic>
          <a:graphicData uri="http://schemas.openxmlformats.org/drawingml/2006/table">
            <a:tbl>
              <a:tblPr/>
              <a:tblGrid>
                <a:gridCol w="6350000"/>
              </a:tblGrid>
              <a:tr h="1879600">
                <a:tc>
                  <a:txBody>
                    <a:bodyPr wrap="square" rtlCol="0" anchor="ctr"/>
                    <a:lstStyle/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q1:  SELECT country, SUM(revenue) FROM sales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WHERE </a:t>
                      </a:r>
                      <a:r>
                        <a:rPr lang="en-US" sz="1050" noProof="1" b="1">
                          <a:solidFill>
                            <a:srgbClr val="C00000"/>
                          </a:solidFill>
                          <a:latin typeface="JetBrains Mono"/>
                          <a:ea typeface="JetBrains Mono"/>
                        </a:rPr>
                        <a:t>month = 8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GROUP BY country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  <a:spcBef>
                          <a:spcPts val="400"/>
                        </a:spcBef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q2:  SELECT product, SUM(revenue) FROM sales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WHERE </a:t>
                      </a:r>
                      <a:r>
                        <a:rPr lang="en-US" sz="1050" noProof="1" b="1">
                          <a:solidFill>
                            <a:srgbClr val="C00000"/>
                          </a:solidFill>
                          <a:latin typeface="JetBrains Mono"/>
                          <a:ea typeface="JetBrains Mono"/>
                        </a:rPr>
                        <a:t>month = 8 AND country = 'CA'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GROUP BY product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  <a:spcBef>
                          <a:spcPts val="400"/>
                        </a:spcBef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q3:  SELECT cust_type, SUM(revenue) FROM sales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WHERE </a:t>
                      </a:r>
                      <a:r>
                        <a:rPr lang="en-US" sz="1050" noProof="1" b="1">
                          <a:solidFill>
                            <a:srgbClr val="C00000"/>
                          </a:solidFill>
                          <a:latin typeface="JetBrains Mono"/>
                          <a:ea typeface="JetBrains Mono"/>
                        </a:rPr>
                        <a:t>month = 8 AND country = 'CA'</a:t>
                      </a:r>
                    </a:p>
                    <a:p>
                      <a:pPr algn="l" marL="152400">
                        <a:lnSpc>
                          <a:spcPct val="140000"/>
                        </a:lnSpc>
                      </a:pPr>
                      <a:r>
                        <a:rPr lang="en-US" sz="1050" noProof="1">
                          <a:solidFill>
                            <a:srgbClr val="4D4D4D"/>
                          </a:solidFill>
                          <a:latin typeface="JetBrains Mono"/>
                          <a:ea typeface="JetBrains Mono"/>
                        </a:rPr>
                        <a:t>　　GROUP BY cust_type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p4-cost-caption"/>
          <p:cNvSpPr txBox="1"/>
          <p:nvPr/>
        </p:nvSpPr>
        <p:spPr>
          <a:xfrm>
            <a:off x="7264400" y="1168400"/>
            <a:ext cx="431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设 sales 全表扫描代价 = 100（示意代价）</a:t>
            </a:r>
            <a:endParaRPr lang="en-US" sz="900" noProof="1"/>
          </a:p>
        </p:txBody>
      </p:sp>
      <p:sp>
        <p:nvSpPr>
          <p:cNvPr id="7" name="p4-cost-left"/>
          <p:cNvSpPr txBox="1"/>
          <p:nvPr/>
        </p:nvSpPr>
        <p:spPr>
          <a:xfrm>
            <a:off x="7264400" y="1447800"/>
            <a:ext cx="20320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逐条优化（现状）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3 次全表扫描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各自过滤聚合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1D1D1A"/>
                </a:solidFill>
                <a:latin typeface="MiSans"/>
                <a:ea typeface="MiSans"/>
              </a:rPr>
              <a:t>300</a:t>
            </a:r>
            <a:endParaRPr lang="en-US" sz="1600" noProof="1"/>
          </a:p>
        </p:txBody>
      </p:sp>
      <p:sp>
        <p:nvSpPr>
          <p:cNvPr id="8" name="p4-cost-vs"/>
          <p:cNvSpPr txBox="1"/>
          <p:nvPr/>
        </p:nvSpPr>
        <p:spPr>
          <a:xfrm>
            <a:off x="9321800" y="2133600"/>
            <a:ext cx="355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>
                <a:solidFill>
                  <a:srgbClr val="A3A3A3"/>
                </a:solidFill>
                <a:latin typeface="MiSans"/>
                <a:ea typeface="MiSans"/>
              </a:rPr>
              <a:t>vs</a:t>
            </a:r>
            <a:endParaRPr lang="en-US" sz="1100" noProof="1"/>
          </a:p>
        </p:txBody>
      </p:sp>
      <p:sp>
        <p:nvSpPr>
          <p:cNvPr id="9" name="p4-cost-right"/>
          <p:cNvSpPr txBox="1"/>
          <p:nvPr/>
        </p:nvSpPr>
        <p:spPr>
          <a:xfrm>
            <a:off x="9728200" y="1447800"/>
            <a:ext cx="18542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 noProof="1">
                <a:solidFill>
                  <a:srgbClr val="666666"/>
                </a:solidFill>
                <a:latin typeface="MiSans"/>
                <a:ea typeface="MiSans"/>
              </a:rPr>
              <a:t>轨迹视角（本课题）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1 次扫描 + 物化 M</a:t>
            </a:r>
            <a:r>
              <a:rPr lang="en-US" sz="1050" noProof="1" baseline="-25000">
                <a:solidFill>
                  <a:srgbClr val="4D4D4D"/>
                </a:solidFill>
                <a:latin typeface="MiSans"/>
                <a:ea typeface="MiSans"/>
              </a:rPr>
              <a:t>1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；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q</a:t>
            </a:r>
            <a:r>
              <a:rPr lang="en-US" sz="1050" noProof="1" baseline="-25000">
                <a:solidFill>
                  <a:srgbClr val="4D4D4D"/>
                </a:solidFill>
                <a:latin typeface="MiSans"/>
                <a:ea typeface="MiSans"/>
              </a:rPr>
              <a:t>2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、q</a:t>
            </a:r>
            <a:r>
              <a:rPr lang="en-US" sz="1050" noProof="1" baseline="-25000">
                <a:solidFill>
                  <a:srgbClr val="4D4D4D"/>
                </a:solidFill>
                <a:latin typeface="MiSans"/>
                <a:ea typeface="MiSans"/>
              </a:rPr>
              <a:t>3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 在 M</a:t>
            </a:r>
            <a:r>
              <a:rPr lang="en-US" sz="1050" noProof="1" baseline="-25000">
                <a:solidFill>
                  <a:srgbClr val="4D4D4D"/>
                </a:solidFill>
                <a:latin typeface="MiSans"/>
                <a:ea typeface="MiSans"/>
              </a:rPr>
              <a:t>1</a:t>
            </a:r>
            <a:r>
              <a:rPr lang="en-US" sz="1050" noProof="1">
                <a:solidFill>
                  <a:srgbClr val="4D4D4D"/>
                </a:solidFill>
                <a:latin typeface="MiSans"/>
                <a:ea typeface="MiSans"/>
              </a:rPr>
              <a:t> 上执行</a:t>
            </a:r>
            <a:endParaRPr lang="en-US" sz="1600" noProof="1"/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lang="en-US" sz="3000" noProof="1" b="1">
                <a:solidFill>
                  <a:srgbClr val="C00000"/>
                </a:solidFill>
                <a:latin typeface="MiSans"/>
                <a:ea typeface="MiSans"/>
              </a:rPr>
              <a:t>≈130</a:t>
            </a:r>
            <a:endParaRPr lang="en-US" sz="16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4-scope"/>
              <p:cNvSpPr txBox="1"/>
              <p:nvPr/>
            </p:nvSpPr>
            <p:spPr>
              <a:xfrm>
                <a:off x="609600" y="3200400"/>
                <a:ext cx="109728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50" noProof="1">
                    <a:solidFill>
                      <a:srgbClr val="666666"/>
                    </a:solidFill>
                    <a:latin typeface="MiSans"/>
                    <a:ea typeface="MiSans"/>
                  </a:rPr>
                  <a:t>三条查询的</a:t>
                </a:r>
                <a:r>
                  <a:rPr lang="en-US" sz="1150" noProof="1" b="1">
                    <a:solidFill>
                      <a:srgbClr val="666666"/>
                    </a:solidFill>
                    <a:latin typeface="MiSans"/>
                    <a:ea typeface="MiSans"/>
                  </a:rPr>
                  <a:t>数据访问范围逐步收窄</a:t>
                </a:r>
                <a:r>
                  <a:rPr lang="en-US" sz="1150" noProof="1">
                    <a:solidFill>
                      <a:srgbClr val="666666"/>
                    </a:solidFill>
                    <a:latin typeface="MiSans"/>
                    <a:ea typeface="MiSans"/>
                  </a:rPr>
                  <a:t>：</a:t>
                </a:r>
                <a14:m>
                  <m:oMath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D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150" noProof="1">
                            <a:solidFill>
                              <a:srgbClr val="666666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q</m:t>
                        </m:r>
                      </m:e>
                      <m:sub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2</m:t>
                        </m:r>
                      </m:sub>
                    </m:sSub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)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=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D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150" noProof="1">
                            <a:solidFill>
                              <a:srgbClr val="666666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q</m:t>
                        </m:r>
                      </m:e>
                      <m:sub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3</m:t>
                        </m:r>
                      </m:sub>
                    </m:sSub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)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⊂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D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150" noProof="1">
                            <a:solidFill>
                              <a:srgbClr val="666666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q</m:t>
                        </m:r>
                      </m:e>
                      <m:sub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1</m:t>
                        </m:r>
                      </m:sub>
                    </m:sSub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150" noProof="1">
                    <a:solidFill>
                      <a:srgbClr val="666666"/>
                    </a:solidFill>
                    <a:latin typeface="MiSans"/>
                    <a:ea typeface="MiSans"/>
                  </a:rPr>
                  <a:t>，即 </a:t>
                </a:r>
                <a14:m>
                  <m:oMath>
                    <m:sSub>
                      <m:sSubPr>
                        <m:ctrlPr>
                          <a:rPr lang="en-US" sz="1150" noProof="1">
                            <a:solidFill>
                              <a:srgbClr val="666666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σ</m:t>
                        </m:r>
                      </m:e>
                      <m:sub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m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o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n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h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8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∧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c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o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u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n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r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y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C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A</m:t>
                        </m:r>
                      </m:sub>
                    </m:sSub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(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s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a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l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e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s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)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⊂</m:t>
                    </m:r>
                    <m:sSub>
                      <m:sSubPr>
                        <m:ctrlPr>
                          <a:rPr lang="en-US" sz="1150" noProof="1">
                            <a:solidFill>
                              <a:srgbClr val="666666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σ</m:t>
                        </m:r>
                      </m:e>
                      <m:sub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m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o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n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t</m:t>
                        </m:r>
                        <m:r>
                          <a:rPr lang="en-US" sz="1150" noProof="1" i="1">
                            <a:solidFill>
                              <a:srgbClr val="666666"/>
                            </a:solidFill>
                            <a:latin typeface="MiSans"/>
                          </a:rPr>
                          <m:t>h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=</m:t>
                        </m:r>
                        <m:r>
                          <a:rPr lang="en-US" sz="1150" noProof="1" i="0">
                            <a:solidFill>
                              <a:srgbClr val="666666"/>
                            </a:solidFill>
                            <a:latin typeface="MiSans"/>
                          </a:rPr>
                          <m:t>8</m:t>
                        </m:r>
                      </m:sub>
                    </m:sSub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(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s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a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l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e</m:t>
                    </m:r>
                    <m:r>
                      <a:rPr lang="en-US" sz="1150" noProof="1" i="1">
                        <a:solidFill>
                          <a:srgbClr val="666666"/>
                        </a:solidFill>
                        <a:latin typeface="MiSans"/>
                      </a:rPr>
                      <m:t>s</m:t>
                    </m:r>
                    <m:r>
                      <a:rPr lang="en-US" sz="1150" noProof="1" i="0">
                        <a:solidFill>
                          <a:srgbClr val="666666"/>
                        </a:solidFill>
                        <a:latin typeface="MiSans"/>
                      </a:rPr>
                      <m:t>)</m:t>
                    </m:r>
                  </m:oMath>
                </a14:m>
                <a:endParaRPr lang="en-US" sz="1150" noProof="1"/>
              </a:p>
            </p:txBody>
          </p:sp>
        </mc:Choice>
        <mc:Fallback xmlns="">
          <p:sp>
            <p:nvSpPr>
              <p:cNvPr id="10" name="p4-scope"/>
              <p:cNvSpPr txBox="1"/>
              <p:nvPr/>
            </p:nvSpPr>
            <p:spPr>
              <a:xfrm>
                <a:off x="609600" y="3200400"/>
                <a:ext cx="109728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/>
              <a:lstStyle/>
              <a:p>
                <a:pPr>
                  <a:lnSpc>
                    <a:spcPct val="120000"/>
                  </a:lnSpc>
                </a:pPr>
                <a:r>
                  <a:rPr lang="en-US" sz="1150" noProof="1">
                    <a:solidFill>
                      <a:srgbClr val="666666"/>
                    </a:solidFill>
                    <a:latin typeface="MiSans"/>
                    <a:ea typeface="MiSans"/>
                  </a:rPr>
                  <a:t>三条查询的</a:t>
                </a:r>
                <a:r>
                  <a:rPr lang="en-US" sz="1150" noProof="1" b="1">
                    <a:solidFill>
                      <a:srgbClr val="666666"/>
                    </a:solidFill>
                    <a:latin typeface="MiSans"/>
                    <a:ea typeface="MiSans"/>
                  </a:rPr>
                  <a:t>数据访问范围逐步收窄</a:t>
                </a:r>
                <a:r>
                  <a:rPr lang="en-US" sz="1150" noProof="1">
                    <a:solidFill>
                      <a:srgbClr val="666666"/>
                    </a:solidFill>
                    <a:latin typeface="MiSans"/>
                    <a:ea typeface="MiSans"/>
                  </a:rPr>
                  <a:t>：\(D(q_2)=D(q_3)\subset D(q_1)\)，即 \(\sigma_{month=8 \land country=CA}(sales)\subset\sigma_{month=8}(sales)\)</a:t>
                </a:r>
                <a:endParaRPr lang="en-US" sz="1150" noProof="1"/>
              </a:p>
            </p:txBody>
          </p:sp>
        </mc:Fallback>
      </mc:AlternateContent>
      <p:sp>
        <p:nvSpPr>
          <p:cNvPr id="11" name="p4-key"/>
          <p:cNvSpPr txBox="1"/>
          <p:nvPr/>
        </p:nvSpPr>
        <p:spPr>
          <a:xfrm>
            <a:off x="609600" y="35814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单看 q</a:t>
            </a:r>
            <a:r>
              <a:rPr lang="en-US" sz="1250" noProof="1" baseline="-25000">
                <a:solidFill>
                  <a:srgbClr val="4D4D4D"/>
                </a:solidFill>
                <a:latin typeface="MiSans"/>
                <a:ea typeface="MiSans"/>
              </a:rPr>
              <a:t>1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：物化让代价 100 → 120，</a:t>
            </a: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更贵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，单查询优化器不会做；</a:t>
            </a:r>
            <a:endParaRPr lang="en-US" sz="1250" noProof="1"/>
          </a:p>
          <a:p>
            <a:pPr algn="l">
              <a:lnSpc>
                <a:spcPct val="145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看整条轨迹：300 → 130，</a:t>
            </a: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省一半以上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——前提是知道它们属于同一轨迹。</a:t>
            </a:r>
            <a:endParaRPr lang="en-US" sz="125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p4-formula"/>
              <p:cNvSpPr txBox="1"/>
              <p:nvPr/>
            </p:nvSpPr>
            <p:spPr>
              <a:xfrm>
                <a:off x="609600" y="4241800"/>
                <a:ext cx="109728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14:m>
                  <m:oMath>
                    <m:nary>
                      <m:naryPr>
                        <m:chr m:val="∑"/>
                        <m:limLoc m:val="undOvr"/>
                        <m:supHide m:val="1"/>
                        <m:ctrlPr>
                          <a:rPr lang="en-US" sz="1200" noProof="1">
                            <a:solidFill>
                              <a:srgbClr val="1D1D1A"/>
                            </a:solidFill>
                            <a:latin typeface="MiSans"/>
                          </a:rPr>
                        </m:ctrlPr>
                      </m:naryPr>
                      <m:sub>
                        <m:r>
                          <a:rPr lang="en-US" sz="1200" noProof="1" i="1">
                            <a:solidFill>
                              <a:srgbClr val="1D1D1A"/>
                            </a:solidFill>
                            <a:latin typeface="MiSans"/>
                          </a:rPr>
                          <m:t>t</m:t>
                        </m:r>
                      </m:sub>
                      <m:sup/>
                      <m:e/>
                    </m:nary>
                    <m:limLow>
                      <m:limLowPr>
                        <m:ctrlPr>
                          <a:rPr lang="en-US" sz="1200" noProof="1">
                            <a:solidFill>
                              <a:srgbClr val="1D1D1A"/>
                            </a:solidFill>
                            <a:latin typeface="MiSans"/>
                          </a:rPr>
                        </m:ctrlPr>
                      </m:limLowPr>
                      <m:e>
                        <m:r>
                          <a:rPr lang="en-US" sz="1200" noProof="1" i="0">
                            <a:solidFill>
                              <a:srgbClr val="1D1D1A"/>
                            </a:solidFill>
                            <a:latin typeface="MiSans"/>
                          </a:rPr>
                          <m:t>min</m:t>
                        </m:r>
                      </m:e>
                      <m:lim>
                        <m:sSub>
                          <m:sSubPr>
                            <m:ctrlPr>
                              <a:rPr lang="en-US" sz="1200" noProof="1">
                                <a:solidFill>
                                  <a:srgbClr val="1D1D1A"/>
                                </a:solidFill>
                                <a:latin typeface="MiSans"/>
                              </a:rPr>
                            </m:ctrlPr>
                          </m:sSubPr>
                          <m:e>
                            <m:r>
                              <a:rPr lang="en-US" sz="1200" noProof="1" i="1">
                                <a:solidFill>
                                  <a:srgbClr val="1D1D1A"/>
                                </a:solidFill>
                                <a:latin typeface="MiSans"/>
                              </a:rPr>
                              <m:t>P</m:t>
                            </m:r>
                          </m:e>
                          <m:sub>
                            <m:r>
                              <a:rPr lang="en-US" sz="1200" noProof="1" i="1">
                                <a:solidFill>
                                  <a:srgbClr val="1D1D1A"/>
                                </a:solidFill>
                                <a:latin typeface="MiSans"/>
                              </a:rPr>
                              <m:t>t</m:t>
                            </m:r>
                          </m:sub>
                        </m:sSub>
                      </m:lim>
                    </m:limLow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C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o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s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t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(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D1D1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D1D1A"/>
                            </a:solidFill>
                            <a:latin typeface="MiSans"/>
                          </a:rPr>
                          <m:t>q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D1D1A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,</m:t>
                    </m:r>
                    <m:sSub>
                      <m:sSubPr>
                        <m:ctrlPr>
                          <a:rPr lang="en-US" sz="1200" noProof="1">
                            <a:solidFill>
                              <a:srgbClr val="1D1D1A"/>
                            </a:solidFill>
                            <a:latin typeface="MiSans"/>
                          </a:rPr>
                        </m:ctrlPr>
                      </m:sSubPr>
                      <m:e>
                        <m:r>
                          <a:rPr lang="en-US" sz="1200" noProof="1" i="1">
                            <a:solidFill>
                              <a:srgbClr val="1D1D1A"/>
                            </a:solidFill>
                            <a:latin typeface="MiSans"/>
                          </a:rPr>
                          <m:t>P</m:t>
                        </m:r>
                      </m:e>
                      <m:sub>
                        <m:r>
                          <a:rPr lang="en-US" sz="1200" noProof="1" i="1">
                            <a:solidFill>
                              <a:srgbClr val="1D1D1A"/>
                            </a:solidFill>
                            <a:latin typeface="MiSans"/>
                          </a:rPr>
                          <m:t>t</m:t>
                        </m:r>
                      </m:sub>
                    </m:sSub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)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 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≠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 </m:t>
                    </m:r>
                    <m:limLow>
                      <m:limLowPr>
                        <m:ctrlPr>
                          <a:rPr lang="en-US" sz="1200" noProof="1">
                            <a:solidFill>
                              <a:srgbClr val="1D1D1A"/>
                            </a:solidFill>
                            <a:latin typeface="MiSans"/>
                          </a:rPr>
                        </m:ctrlPr>
                      </m:limLowPr>
                      <m:e>
                        <m:r>
                          <a:rPr lang="en-US" sz="1200" noProof="1" i="0">
                            <a:solidFill>
                              <a:srgbClr val="1D1D1A"/>
                            </a:solidFill>
                            <a:latin typeface="MiSans"/>
                          </a:rPr>
                          <m:t>min</m:t>
                        </m:r>
                      </m:e>
                      <m:lim>
                        <m:r>
                          <a:rPr lang="en-US" sz="1200" noProof="1" i="0">
                            <a:solidFill>
                              <a:srgbClr val="1D1D1A"/>
                            </a:solidFill>
                            <a:latin typeface="MiSans"/>
                          </a:rPr>
                          <m:t>π</m:t>
                        </m:r>
                      </m:lim>
                    </m:limLow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C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o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s</m:t>
                    </m:r>
                    <m:r>
                      <a:rPr lang="en-US" sz="1200" noProof="1" i="1">
                        <a:solidFill>
                          <a:srgbClr val="1D1D1A"/>
                        </a:solidFill>
                        <a:latin typeface="MiSans"/>
                      </a:rPr>
                      <m:t>t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(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τ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,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π</m:t>
                    </m:r>
                    <m:r>
                      <a:rPr lang="en-US" sz="1200" noProof="1" i="0">
                        <a:solidFill>
                          <a:srgbClr val="1D1D1A"/>
                        </a:solidFill>
                        <a:latin typeface="MiSans"/>
                      </a:rPr>
                      <m:t>)</m:t>
                    </m:r>
                  </m:oMath>
                </a14:m>
                <a:r>
                  <a:rPr lang="en-US" sz="1200" noProof="1">
                    <a:solidFill>
                      <a:srgbClr val="1D1D1A"/>
                    </a:solidFill>
                    <a:latin typeface="MiSans"/>
                    <a:ea typeface="MiSans"/>
                  </a:rPr>
                  <a:t>　</a:t>
                </a:r>
                <a:r>
                  <a:rPr lang="en-US" sz="1050" noProof="1">
                    <a:solidFill>
                      <a:srgbClr val="666666"/>
                    </a:solidFill>
                    <a:latin typeface="MiSans"/>
                    <a:ea typeface="MiSans"/>
                  </a:rPr>
                  <a:t>各查询局部最优之和 ≠ 轨迹全局最优</a:t>
                </a:r>
                <a:endParaRPr lang="en-US" sz="1200" noProof="1"/>
              </a:p>
            </p:txBody>
          </p:sp>
        </mc:Choice>
        <mc:Fallback xmlns="">
          <p:sp>
            <p:nvSpPr>
              <p:cNvPr id="12" name="p4-formula"/>
              <p:cNvSpPr txBox="1"/>
              <p:nvPr/>
            </p:nvSpPr>
            <p:spPr>
              <a:xfrm>
                <a:off x="609600" y="4241800"/>
                <a:ext cx="10972800" cy="27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rIns="0" tIns="0" bIns="0" wrap="none"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noProof="1">
                    <a:solidFill>
                      <a:srgbClr val="1D1D1A"/>
                    </a:solidFill>
                    <a:latin typeface="MiSans"/>
                    <a:ea typeface="MiSans"/>
                  </a:rPr>
                  <a:t>\(\sum_t \min_{P_t} Cost(q_t,P_t)\ \neq\ \min_{\pi} Cost(\tau,\pi)\)　</a:t>
                </a:r>
                <a:r>
                  <a:rPr lang="en-US" sz="1050" noProof="1">
                    <a:solidFill>
                      <a:srgbClr val="666666"/>
                    </a:solidFill>
                    <a:latin typeface="MiSans"/>
                    <a:ea typeface="MiSans"/>
                  </a:rPr>
                  <a:t>各查询局部最优之和 ≠ 轨迹全局最优</a:t>
                </a:r>
                <a:endParaRPr lang="en-US" sz="1200" noProof="1"/>
              </a:p>
            </p:txBody>
          </p:sp>
        </mc:Fallback>
      </mc:AlternateContent>
      <p:sp>
        <p:nvSpPr>
          <p:cNvPr id="13" name="p4-ch-head"/>
          <p:cNvSpPr txBox="1"/>
          <p:nvPr/>
        </p:nvSpPr>
        <p:spPr>
          <a:xfrm>
            <a:off x="609600" y="4724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Challenge｜为什么难</a:t>
            </a:r>
            <a:endParaRPr lang="en-US" sz="1200" noProof="1"/>
          </a:p>
        </p:txBody>
      </p:sp>
      <p:sp>
        <p:nvSpPr>
          <p:cNvPr id="14" name="p4-ch-line"/>
          <p:cNvSpPr/>
          <p:nvPr/>
        </p:nvSpPr>
        <p:spPr>
          <a:xfrm>
            <a:off x="609600" y="5003800"/>
            <a:ext cx="533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5" name="p4-ch-items"/>
          <p:cNvSpPr txBox="1"/>
          <p:nvPr/>
        </p:nvSpPr>
        <p:spPr>
          <a:xfrm>
            <a:off x="609600" y="51308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50" noProof="1" b="1">
                <a:solidFill>
                  <a:srgbClr val="4D4D4D"/>
                </a:solidFill>
                <a:latin typeface="MiSans"/>
                <a:ea typeface="MiSans"/>
              </a:rPr>
              <a:t>Future Unknown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　下一条具体 SQL 此刻尚不存在</a:t>
            </a:r>
            <a:endParaRPr lang="en-US" sz="1150" noProof="1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4D4D4D"/>
                </a:solidFill>
                <a:latin typeface="MiSans"/>
                <a:ea typeface="MiSans"/>
              </a:rPr>
              <a:t>Result-Dependent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　后续访问方向由当前结果改变</a:t>
            </a:r>
            <a:endParaRPr lang="en-US" sz="1150" noProof="1"/>
          </a:p>
        </p:txBody>
      </p:sp>
      <p:sp>
        <p:nvSpPr>
          <p:cNvPr id="16" name="p4-op-head"/>
          <p:cNvSpPr txBox="1"/>
          <p:nvPr/>
        </p:nvSpPr>
        <p:spPr>
          <a:xfrm>
            <a:off x="6248400" y="4724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D1D1A"/>
                </a:solidFill>
                <a:latin typeface="MiSans"/>
                <a:ea typeface="MiSans"/>
              </a:rPr>
              <a:t>Opportunity｜为什么有机会</a:t>
            </a:r>
            <a:endParaRPr lang="en-US" sz="1200" noProof="1"/>
          </a:p>
        </p:txBody>
      </p:sp>
      <p:sp>
        <p:nvSpPr>
          <p:cNvPr id="17" name="p4-op-line"/>
          <p:cNvSpPr/>
          <p:nvPr/>
        </p:nvSpPr>
        <p:spPr>
          <a:xfrm>
            <a:off x="6248400" y="5003800"/>
            <a:ext cx="5334000" cy="127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8" name="p4-op-items"/>
          <p:cNvSpPr txBox="1"/>
          <p:nvPr/>
        </p:nvSpPr>
        <p:spPr>
          <a:xfrm>
            <a:off x="6248400" y="513080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50" noProof="1" b="1">
                <a:solidFill>
                  <a:srgbClr val="4D4D4D"/>
                </a:solidFill>
                <a:latin typeface="MiSans"/>
                <a:ea typeface="MiSans"/>
              </a:rPr>
              <a:t>Goal-Driven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　多条查询围绕同一个高层任务展开</a:t>
            </a:r>
            <a:endParaRPr lang="en-US" sz="1150" noProof="1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150" noProof="1" b="1">
                <a:solidFill>
                  <a:srgbClr val="C00000"/>
                </a:solidFill>
                <a:latin typeface="MiSans"/>
                <a:ea typeface="MiSans"/>
              </a:rPr>
              <a:t>Intent-Exposable</a:t>
            </a:r>
            <a:r>
              <a:rPr lang="en-US" sz="1150" noProof="1">
                <a:solidFill>
                  <a:srgbClr val="4D4D4D"/>
                </a:solidFill>
                <a:latin typeface="MiSans"/>
                <a:ea typeface="MiSans"/>
              </a:rPr>
              <a:t>　SQL 尚未生成，但 Agent 已有目标、阶段与候选下一步动作</a:t>
            </a:r>
            <a:endParaRPr lang="en-US" sz="1150" noProof="1"/>
          </a:p>
        </p:txBody>
      </p:sp>
      <p:graphicFrame>
        <p:nvGraphicFramePr>
          <p:cNvPr id="19" name="p4-takeaway"/>
          <p:cNvGraphicFramePr>
            <a:graphicFrameLocks noGrp="1"/>
          </p:cNvGraphicFramePr>
          <p:nvPr/>
        </p:nvGraphicFramePr>
        <p:xfrm>
          <a:off x="609600" y="6299200"/>
          <a:ext cx="10972800" cy="3556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数据库在优化「一条 SQL」，而 Agent 完成的是「一个任务」。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p4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4 / 7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业务价值：从 Query Latency 到 Agent Task Completion Time</a:t>
            </a:r>
            <a:endParaRPr lang="en-US" sz="2500" noProof="1"/>
          </a:p>
        </p:txBody>
      </p:sp>
      <p:sp>
        <p:nvSpPr>
          <p:cNvPr id="3" name="p5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03 · 业务价值</a:t>
            </a:r>
            <a:endParaRPr lang="en-US" sz="1000" noProof="1"/>
          </a:p>
        </p:txBody>
      </p:sp>
      <p:sp>
        <p:nvSpPr>
          <p:cNvPr id="4" name="p5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5-lead"/>
          <p:cNvSpPr txBox="1"/>
          <p:nvPr/>
        </p:nvSpPr>
        <p:spPr>
          <a:xfrm>
            <a:off x="609600" y="11684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Agent 正成为数据库新的、高增长的数据访问主体。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它的两个特点放大了查询处理的杠杆：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高频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：一个任务产生数倍于人的查询量，且 7×24 发生；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· </a:t>
            </a:r>
            <a:r>
              <a:rPr lang="en-US" sz="1250" noProof="1" b="1">
                <a:solidFill>
                  <a:srgbClr val="4D4D4D"/>
                </a:solidFill>
                <a:latin typeface="MiSans"/>
                <a:ea typeface="MiSans"/>
              </a:rPr>
              <a:t>高相关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：同一任务内的查询大量重复访问同一数据子集，冗余扫描与重复计算被成倍放大。</a:t>
            </a:r>
            <a:endParaRPr lang="en-US" sz="1250" noProof="1"/>
          </a:p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第 4 页的浪费不是个例，而是 Agent 负载的</a:t>
            </a: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结构性特征</a:t>
            </a:r>
            <a:r>
              <a:rPr lang="en-US" sz="1250" noProof="1">
                <a:solidFill>
                  <a:srgbClr val="4D4D4D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graphicFrame>
        <p:nvGraphicFramePr>
          <p:cNvPr id="6" name="p5-table"/>
          <p:cNvGraphicFramePr>
            <a:graphicFrameLocks noGrp="1"/>
          </p:cNvGraphicFramePr>
          <p:nvPr/>
        </p:nvGraphicFramePr>
        <p:xfrm>
          <a:off x="609600" y="2590800"/>
          <a:ext cx="10972800" cy="218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8056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用户侧价值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平台侧价值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产品战略价值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Agent 响应更快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重复扫描 / 重复计算减少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形成 Agent-aware 的数据库内核能力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长任务等待时间降低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CPU / I/O / 内存成本下降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与普通 PostgreSQL / Cloud DB 拉开差异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降低 timeout / budget 耗尽风险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同样资源支撑更多 Agent 并发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从 Agent Friendly 走向 Agent Native Query Processing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p5-keynote-label"/>
          <p:cNvSpPr txBox="1"/>
          <p:nvPr/>
        </p:nvSpPr>
        <p:spPr>
          <a:xfrm>
            <a:off x="609600" y="50292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50" noProof="1" b="1">
                <a:solidFill>
                  <a:srgbClr val="C00000"/>
                </a:solidFill>
                <a:latin typeface="MiSans"/>
                <a:ea typeface="MiSans"/>
              </a:rPr>
              <a:t>关键判断</a:t>
            </a:r>
            <a:endParaRPr lang="en-US" sz="1050" noProof="1"/>
          </a:p>
        </p:txBody>
      </p:sp>
      <p:sp>
        <p:nvSpPr>
          <p:cNvPr id="8" name="p5-keynote"/>
          <p:cNvSpPr txBox="1"/>
          <p:nvPr/>
        </p:nvSpPr>
        <p:spPr>
          <a:xfrm>
            <a:off x="609600" y="5283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50" noProof="1" b="1">
                <a:solidFill>
                  <a:srgbClr val="1D1D1A"/>
                </a:solidFill>
                <a:latin typeface="MiSans"/>
                <a:ea typeface="MiSans"/>
              </a:rPr>
              <a:t>这是与模型能力提升正交、可以由系统侧直接获取的性能收益。</a:t>
            </a:r>
            <a:endParaRPr lang="en-US" sz="1450" noProof="1"/>
          </a:p>
        </p:txBody>
      </p:sp>
      <p:graphicFrame>
        <p:nvGraphicFramePr>
          <p:cNvPr id="9" name="p5-takeaway"/>
          <p:cNvGraphicFramePr>
            <a:graphicFrameLocks noGrp="1"/>
          </p:cNvGraphicFramePr>
          <p:nvPr/>
        </p:nvGraphicFramePr>
        <p:xfrm>
          <a:off x="609600" y="6299200"/>
          <a:ext cx="10972800" cy="3556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让数据底座成为最懂 Agent 的那一个：别人优化 Agent 的「大脑」，我们优化 Agent 脚下的「路」。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p5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5 / 7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6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已有系统如何获得「未来工作负载」信息？</a:t>
            </a:r>
            <a:endParaRPr lang="en-US" sz="2500" noProof="1"/>
          </a:p>
        </p:txBody>
      </p:sp>
      <p:sp>
        <p:nvSpPr>
          <p:cNvPr id="3" name="p6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  <a:endParaRPr lang="en-US" sz="1000" noProof="1"/>
          </a:p>
        </p:txBody>
      </p:sp>
      <p:sp>
        <p:nvSpPr>
          <p:cNvPr id="4" name="p6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graphicFrame>
        <p:nvGraphicFramePr>
          <p:cNvPr id="5" name="p6-table"/>
          <p:cNvGraphicFramePr>
            <a:graphicFrameLocks noGrp="1"/>
          </p:cNvGraphicFramePr>
          <p:nvPr/>
        </p:nvGraphicFramePr>
        <p:xfrm>
          <a:off x="609600" y="1168400"/>
          <a:ext cx="10972800" cy="3454400"/>
        </p:xfrm>
        <a:graphic>
          <a:graphicData uri="http://schemas.openxmlformats.org/drawingml/2006/table">
            <a:tbl>
              <a:tblPr/>
              <a:tblGrid>
                <a:gridCol w="2852928"/>
                <a:gridCol w="4389120"/>
                <a:gridCol w="3730752"/>
              </a:tblGrid>
              <a:tr h="552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范式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Future 信息从哪里来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代表工作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00000"/>
                      </a:solidFill>
                    </a:lnB>
                    <a:noFill/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Current（Reactive）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不知道未来，逐条响应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传统 Query Optimizer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Known Future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未来 Query 本身已给定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MQO / ReProVide / AutoCox（DKE 2026）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Inferred Future（Predictive）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从历史行为推断：Past behavior → Prediction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4D4D4D"/>
                          </a:solidFill>
                          <a:latin typeface="Times New Roman"/>
                          <a:ea typeface="Times New Roman"/>
                        </a:rPr>
                        <a:t>HAWC / SparkCruise / ForeCache / PreView*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noFill/>
                  </a:tcPr>
                </a:tc>
              </a:tr>
              <a:tr h="725424">
                <a:tc>
                  <a:txBody>
                    <a:bodyPr wrap="square" rtlCol="0" anchor="ctr"/>
                    <a:lstStyle/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11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Exposed Future</a:t>
                      </a:r>
                    </a:p>
                    <a:p>
                      <a:pPr algn="l">
                        <a:lnSpc>
                          <a:spcPct val="130000"/>
                        </a:lnSpc>
                      </a:pPr>
                      <a:r>
                        <a:rPr lang="en-US" sz="950" noProof="1" b="1">
                          <a:solidFill>
                            <a:srgbClr val="666666"/>
                          </a:solidFill>
                          <a:latin typeface="Times New Roman"/>
                          <a:ea typeface="Times New Roman"/>
                        </a:rPr>
                        <a:t>Cooperative · 本文定义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Workload generator 主动暴露意图：Agent Goal / Stage / Candidate Actions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00" noProof="1" b="1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</a:rPr>
                        <a:t>★ 本课题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DDDDD"/>
                      </a:solidFill>
                    </a:lnB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sp>
        <p:nvSpPr>
          <p:cNvPr id="6" name="p6-emph"/>
          <p:cNvSpPr txBox="1"/>
          <p:nvPr/>
        </p:nvSpPr>
        <p:spPr>
          <a:xfrm>
            <a:off x="609600" y="4902200"/>
            <a:ext cx="1097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1D1D1A"/>
                </a:solidFill>
                <a:latin typeface="MiSans"/>
                <a:ea typeface="MiSans"/>
              </a:rPr>
              <a:t>Agent workload 带来新的信息条件：</a:t>
            </a:r>
            <a:r>
              <a:rPr lang="en-US" sz="1500" noProof="1" b="1">
                <a:solidFill>
                  <a:srgbClr val="C00000"/>
                </a:solidFill>
                <a:latin typeface="MiSans"/>
                <a:ea typeface="MiSans"/>
              </a:rPr>
              <a:t>Query Unknown, Intent Visible</a:t>
            </a:r>
            <a:r>
              <a:rPr lang="en-US" sz="1500" noProof="1" b="1">
                <a:solidFill>
                  <a:srgbClr val="1D1D1A"/>
                </a:solidFill>
                <a:latin typeface="MiSans"/>
                <a:ea typeface="MiSans"/>
              </a:rPr>
              <a:t>。</a:t>
            </a:r>
            <a:endParaRPr lang="en-US" sz="1500" noProof="1"/>
          </a:p>
        </p:txBody>
      </p:sp>
      <p:sp>
        <p:nvSpPr>
          <p:cNvPr id="7" name="p6-footnote"/>
          <p:cNvSpPr txBox="1"/>
          <p:nvPr/>
        </p:nvSpPr>
        <p:spPr>
          <a:xfrm>
            <a:off x="609600" y="53340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*PreView 引用出处核实中，正式版补充。AutoCox：Data &amp; Knowledge Engineering, 164:102577（2026）。</a:t>
            </a:r>
            <a:endParaRPr lang="en-US" sz="900" noProof="1"/>
          </a:p>
        </p:txBody>
      </p:sp>
      <p:graphicFrame>
        <p:nvGraphicFramePr>
          <p:cNvPr id="8" name="p6-takeaway"/>
          <p:cNvGraphicFramePr>
            <a:graphicFrameLocks noGrp="1"/>
          </p:cNvGraphicFramePr>
          <p:nvPr/>
        </p:nvGraphicFramePr>
        <p:xfrm>
          <a:off x="609600" y="6299200"/>
          <a:ext cx="10972800" cy="3556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3556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已有系统要么看见未来，要么猜测未来；Agent 让未来意图第一次可以被「直接告知」。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p6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6 / 7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7-title"/>
          <p:cNvSpPr txBox="1"/>
          <p:nvPr/>
        </p:nvSpPr>
        <p:spPr>
          <a:xfrm>
            <a:off x="609600" y="330200"/>
            <a:ext cx="10541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500" noProof="1" b="1">
                <a:solidFill>
                  <a:srgbClr val="1D1D1A"/>
                </a:solidFill>
                <a:latin typeface="MiSans"/>
                <a:ea typeface="MiSans"/>
              </a:rPr>
              <a:t>研究空白：Future Query Unknown, Future Intent Visible</a:t>
            </a:r>
            <a:endParaRPr lang="en-US" sz="2500" noProof="1"/>
          </a:p>
        </p:txBody>
      </p:sp>
      <p:sp>
        <p:nvSpPr>
          <p:cNvPr id="3" name="p7-tag"/>
          <p:cNvSpPr txBox="1"/>
          <p:nvPr/>
        </p:nvSpPr>
        <p:spPr>
          <a:xfrm>
            <a:off x="9652000" y="431800"/>
            <a:ext cx="1930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  <a:endParaRPr lang="en-US" sz="1000" noProof="1"/>
          </a:p>
        </p:txBody>
      </p:sp>
      <p:sp>
        <p:nvSpPr>
          <p:cNvPr id="4" name="p7-redrule"/>
          <p:cNvSpPr/>
          <p:nvPr/>
        </p:nvSpPr>
        <p:spPr>
          <a:xfrm>
            <a:off x="609600" y="863600"/>
            <a:ext cx="5842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5" name="p7-axis-y"/>
          <p:cNvSpPr/>
          <p:nvPr>
            <p:extLst>
              <p:ext uri="{F5677B7D-0D2A-4D9B-9A5C-6D8D7D0E5A5D}">
                <pptd:line encoding="base64url">eyJ2aWV3Qm94IjpbMiwyOTZdLCJwb2ludHMiOiIxLDI5NiAxLDAiLCJjdXJ2ZSI6InNoYXJwIn0</pptd:line>
              </p:ext>
            </p:extLst>
          </p:nvPr>
        </p:nvSpPr>
        <p:spPr>
          <a:xfrm>
            <a:off x="1206500" y="1320800"/>
            <a:ext cx="25400" cy="3759200"/>
          </a:xfrm>
          <a:custGeom>
            <a:avLst/>
            <a:gdLst/>
            <a:ahLst/>
            <a:cxnLst/>
            <a:rect l="l" t="t" r="r" b="b"/>
            <a:pathLst>
              <a:path w="2" h="296">
                <a:moveTo>
                  <a:pt x="1" y="296"/>
                </a:moveTo>
                <a:lnTo>
                  <a:pt x="1" y="0"/>
                </a:lnTo>
              </a:path>
            </a:pathLst>
          </a:custGeom>
          <a:noFill/>
          <a:ln w="19050">
            <a:solidFill>
              <a:srgbClr val="666666"/>
            </a:solidFill>
            <a:tailEnd type="arrow"/>
          </a:ln>
        </p:spPr>
      </p:sp>
      <p:sp>
        <p:nvSpPr>
          <p:cNvPr id="6" name="p7-axis-x"/>
          <p:cNvSpPr/>
          <p:nvPr>
            <p:extLst>
              <p:ext uri="{F5677B7D-0D2A-4D9B-9A5C-6D8D7D0E5A5D}">
                <pptd:line encoding="base64url">eyJ2aWV3Qm94IjpbNDA0LDJdLCJwb2ludHMiOiIwLDEgNDA0LDEiLCJjdXJ2ZSI6InNoYXJwIn0</pptd:line>
              </p:ext>
            </p:extLst>
          </p:nvPr>
        </p:nvSpPr>
        <p:spPr>
          <a:xfrm>
            <a:off x="1219200" y="5067300"/>
            <a:ext cx="5130800" cy="25400"/>
          </a:xfrm>
          <a:custGeom>
            <a:avLst/>
            <a:gdLst/>
            <a:ahLst/>
            <a:cxnLst/>
            <a:rect l="l" t="t" r="r" b="b"/>
            <a:pathLst>
              <a:path w="404" h="2">
                <a:moveTo>
                  <a:pt x="0" y="1"/>
                </a:moveTo>
                <a:lnTo>
                  <a:pt x="404" y="1"/>
                </a:lnTo>
              </a:path>
            </a:pathLst>
          </a:custGeom>
          <a:noFill/>
          <a:ln w="19050">
            <a:solidFill>
              <a:srgbClr val="666666"/>
            </a:solidFill>
            <a:tailEnd type="arrow"/>
          </a:ln>
        </p:spPr>
      </p:sp>
      <p:sp>
        <p:nvSpPr>
          <p:cNvPr id="7" name="p7-xlabel"/>
          <p:cNvSpPr txBox="1"/>
          <p:nvPr/>
        </p:nvSpPr>
        <p:spPr>
          <a:xfrm>
            <a:off x="2540000" y="520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666666"/>
                </a:solidFill>
                <a:latin typeface="MiSans"/>
                <a:ea typeface="MiSans"/>
              </a:rPr>
              <a:t>Future Query Visibility：Unknown → Available</a:t>
            </a:r>
            <a:endParaRPr lang="en-US" sz="950" noProof="1"/>
          </a:p>
        </p:txBody>
      </p:sp>
      <p:sp>
        <p:nvSpPr>
          <p:cNvPr id="8" name="p7-ylabel"/>
          <p:cNvSpPr txBox="1"/>
          <p:nvPr/>
        </p:nvSpPr>
        <p:spPr>
          <a:xfrm rot="16200000">
            <a:off x="-76200" y="2997200"/>
            <a:ext cx="2413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>
                <a:solidFill>
                  <a:srgbClr val="666666"/>
                </a:solidFill>
                <a:latin typeface="MiSans"/>
                <a:ea typeface="MiSans"/>
              </a:rPr>
              <a:t>Workload Generator Visibility：Black Box → Intent Visible</a:t>
            </a:r>
            <a:endParaRPr lang="en-US" sz="950" noProof="1"/>
          </a:p>
        </p:txBody>
      </p:sp>
      <p:sp>
        <p:nvSpPr>
          <p:cNvPr id="9" name="p7-us"/>
          <p:cNvSpPr txBox="1"/>
          <p:nvPr/>
        </p:nvSpPr>
        <p:spPr>
          <a:xfrm>
            <a:off x="1422400" y="1473200"/>
            <a:ext cx="2667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400" noProof="1" b="1">
                <a:solidFill>
                  <a:srgbClr val="C00000"/>
                </a:solidFill>
                <a:latin typeface="MiSans"/>
                <a:ea typeface="MiSans"/>
              </a:rPr>
              <a:t>★ 本课题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4D4D4D"/>
                </a:solidFill>
                <a:latin typeface="MiSans"/>
                <a:ea typeface="MiSans"/>
              </a:rPr>
              <a:t>Query 未知 + Intent 可见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4D4D4D"/>
                </a:solidFill>
                <a:latin typeface="MiSans"/>
                <a:ea typeface="MiSans"/>
              </a:rPr>
              <a:t>→ DB 跨查询物理状态优化</a:t>
            </a:r>
            <a:endParaRPr lang="en-US" sz="1600" noProof="1"/>
          </a:p>
        </p:txBody>
      </p:sp>
      <p:sp>
        <p:nvSpPr>
          <p:cNvPr id="10" name="p7-agentic"/>
          <p:cNvSpPr txBox="1"/>
          <p:nvPr/>
        </p:nvSpPr>
        <p:spPr>
          <a:xfrm>
            <a:off x="3810000" y="2006600"/>
            <a:ext cx="2667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1D1D1A"/>
                </a:solidFill>
                <a:latin typeface="MiSans"/>
                <a:ea typeface="MiSans"/>
              </a:rPr>
              <a:t>AgenticData / Lumilake / EnumGRPO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优化 Agent 的动作流</a:t>
            </a:r>
            <a:endParaRPr lang="en-US" sz="1600" noProof="1"/>
          </a:p>
        </p:txBody>
      </p:sp>
      <p:sp>
        <p:nvSpPr>
          <p:cNvPr id="11" name="p7-inferred"/>
          <p:cNvSpPr txBox="1"/>
          <p:nvPr/>
        </p:nvSpPr>
        <p:spPr>
          <a:xfrm>
            <a:off x="1422400" y="4267200"/>
            <a:ext cx="254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1D1D1A"/>
                </a:solidFill>
                <a:latin typeface="MiSans"/>
                <a:ea typeface="MiSans"/>
              </a:rPr>
              <a:t>EDA / HAWC / SparkCruise / PreView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只能从历史行为猜测未来</a:t>
            </a:r>
            <a:endParaRPr lang="en-US" sz="1600" noProof="1"/>
          </a:p>
        </p:txBody>
      </p:sp>
      <p:sp>
        <p:nvSpPr>
          <p:cNvPr id="12" name="p7-known"/>
          <p:cNvSpPr txBox="1"/>
          <p:nvPr/>
        </p:nvSpPr>
        <p:spPr>
          <a:xfrm>
            <a:off x="4267200" y="4267200"/>
            <a:ext cx="2235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00" noProof="1" b="1">
                <a:solidFill>
                  <a:srgbClr val="1D1D1A"/>
                </a:solidFill>
                <a:latin typeface="MiSans"/>
                <a:ea typeface="MiSans"/>
              </a:rPr>
              <a:t>MQO / ReProVide / AutoCox</a:t>
            </a:r>
            <a:endParaRPr lang="en-US" sz="1600" noProof="1"/>
          </a:p>
          <a:p>
            <a:pPr algn="l">
              <a:lnSpc>
                <a:spcPct val="135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未来 Query 已给定</a:t>
            </a:r>
            <a:endParaRPr lang="en-US" sz="1600" noProof="1"/>
          </a:p>
        </p:txBody>
      </p:sp>
      <p:sp>
        <p:nvSpPr>
          <p:cNvPr id="13" name="p7-caption"/>
          <p:cNvSpPr txBox="1"/>
          <p:nvPr/>
        </p:nvSpPr>
        <p:spPr>
          <a:xfrm>
            <a:off x="609600" y="55880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00" noProof="1">
                <a:solidFill>
                  <a:srgbClr val="666666"/>
                </a:solidFill>
                <a:latin typeface="MiSans"/>
                <a:ea typeface="MiSans"/>
              </a:rPr>
              <a:t>Agentic systems 让 workload generator 第一次变得可观察，但优化对象是 Agent 的动作流；本课题把这一新信息用于数据库内部的跨查询物理状态优化。</a:t>
            </a:r>
            <a:endParaRPr lang="en-US" sz="1000" noProof="1"/>
          </a:p>
        </p:txBody>
      </p:sp>
      <p:sp>
        <p:nvSpPr>
          <p:cNvPr id="14" name="p7-diff-head"/>
          <p:cNvSpPr txBox="1"/>
          <p:nvPr/>
        </p:nvSpPr>
        <p:spPr>
          <a:xfrm>
            <a:off x="7112000" y="12192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D1D1A"/>
                </a:solidFill>
                <a:latin typeface="MiSans"/>
                <a:ea typeface="MiSans"/>
              </a:rPr>
              <a:t>与最近邻的三个本质差异</a:t>
            </a:r>
            <a:endParaRPr lang="en-US" sz="1300" noProof="1"/>
          </a:p>
        </p:txBody>
      </p:sp>
      <p:sp>
        <p:nvSpPr>
          <p:cNvPr id="15" name="p7-diff-line"/>
          <p:cNvSpPr/>
          <p:nvPr/>
        </p:nvSpPr>
        <p:spPr>
          <a:xfrm>
            <a:off x="7112000" y="1524000"/>
            <a:ext cx="44704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</p:sp>
      <p:sp>
        <p:nvSpPr>
          <p:cNvPr id="16" name="p7-diff-1"/>
          <p:cNvSpPr txBox="1"/>
          <p:nvPr/>
        </p:nvSpPr>
        <p:spPr>
          <a:xfrm>
            <a:off x="7112000" y="1727200"/>
            <a:ext cx="4470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① Intent before Query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未来 SQL 生成之前，Agent 已可暴露 Goal / Stage / Candidate Actions。</a:t>
            </a:r>
            <a:endParaRPr lang="en-US" sz="1600" noProof="1"/>
          </a:p>
        </p:txBody>
      </p:sp>
      <p:sp>
        <p:nvSpPr>
          <p:cNvPr id="17" name="p7-diff-2"/>
          <p:cNvSpPr txBox="1"/>
          <p:nvPr/>
        </p:nvSpPr>
        <p:spPr>
          <a:xfrm>
            <a:off x="7112000" y="2870200"/>
            <a:ext cx="4470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② Uncertain by Nature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Intent ≠ Future SQL；后续查询仍由中间结果驱动，决策必须在线更新。</a:t>
            </a:r>
            <a:endParaRPr lang="en-US" sz="1600" noProof="1"/>
          </a:p>
        </p:txBody>
      </p:sp>
      <p:sp>
        <p:nvSpPr>
          <p:cNvPr id="18" name="p7-diff-3"/>
          <p:cNvSpPr txBox="1"/>
          <p:nvPr/>
        </p:nvSpPr>
        <p:spPr>
          <a:xfrm>
            <a:off x="7112000" y="4013200"/>
            <a:ext cx="44704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250" noProof="1" b="1">
                <a:solidFill>
                  <a:srgbClr val="C00000"/>
                </a:solidFill>
                <a:latin typeface="MiSans"/>
                <a:ea typeface="MiSans"/>
              </a:rPr>
              <a:t>③ Optimize Physical State</a:t>
            </a:r>
            <a:endParaRPr lang="en-US" sz="1600" noProof="1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100" noProof="1">
                <a:solidFill>
                  <a:srgbClr val="4D4D4D"/>
                </a:solidFill>
                <a:latin typeface="MiSans"/>
                <a:ea typeface="MiSans"/>
              </a:rPr>
              <a:t>数据库将 intent 转化为 retain / materialize / prefetch / index / evict，而非替 Agent 决定下一步。</a:t>
            </a:r>
            <a:endParaRPr lang="en-US" sz="1600" noProof="1"/>
          </a:p>
        </p:txBody>
      </p:sp>
      <p:graphicFrame>
        <p:nvGraphicFramePr>
          <p:cNvPr id="19" name="p7-takeaway"/>
          <p:cNvGraphicFramePr>
            <a:graphicFrameLocks noGrp="1"/>
          </p:cNvGraphicFramePr>
          <p:nvPr/>
        </p:nvGraphicFramePr>
        <p:xfrm>
          <a:off x="609600" y="6223000"/>
          <a:ext cx="10972800" cy="508000"/>
        </p:xfrm>
        <a:graphic>
          <a:graphicData uri="http://schemas.openxmlformats.org/drawingml/2006/table">
            <a:tbl>
              <a:tblPr/>
              <a:tblGrid>
                <a:gridCol w="10972800"/>
              </a:tblGrid>
              <a:tr h="508000">
                <a:tc>
                  <a:txBody>
                    <a:bodyPr wrap="square" rtlCol="0" anchor="ctr"/>
                    <a:lstStyle/>
                    <a:p>
                      <a:pPr algn="l" marL="152400"/>
                      <a:r>
                        <a:rPr lang="en-US" sz="1250" noProof="1" b="1">
                          <a:solidFill>
                            <a:srgbClr val="1D1D1A"/>
                          </a:solidFill>
                          <a:latin typeface="Times New Roman"/>
                          <a:ea typeface="Times New Roman"/>
                        </a:rPr>
                        <a:t>别人优化 Agent 下一步「做什么」；我们优化数据库现在「准备什么」。</a:t>
                      </a:r>
                    </a:p>
                    <a:p>
                      <a:pPr algn="l" marL="152400">
                        <a:spcBef>
                          <a:spcPts val="200"/>
                        </a:spcBef>
                      </a:pPr>
                      <a:r>
                        <a:rPr lang="en-US" sz="950" noProof="1" i="1">
                          <a:solidFill>
                            <a:srgbClr val="A3A3A3"/>
                          </a:solidFill>
                          <a:latin typeface="Times New Roman"/>
                          <a:ea typeface="Times New Roman"/>
                        </a:rPr>
                        <a:t>Agentic systems optimize what the agent should do; we optimize what the database should prepare.</a:t>
                      </a:r>
                    </a:p>
                  </a:txBody>
                  <a:tcPr marL="91440" marR="91440" marT="45720" marB="45720" anchor="ctr">
                    <a:lnL w="38100">
                      <a:solidFill>
                        <a:srgbClr val="C00000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p7-pagenum"/>
          <p:cNvSpPr txBox="1"/>
          <p:nvPr/>
        </p:nvSpPr>
        <p:spPr>
          <a:xfrm>
            <a:off x="10820400" y="6527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A3A3A3"/>
                </a:solidFill>
                <a:latin typeface="MiSans"/>
                <a:ea typeface="MiSans"/>
              </a:rPr>
              <a:t>7 / 7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7</Slides>
</Properties>
</file>

<file path=docProps/core.xml><?xml version="1.0" encoding="utf-8"?>
<cp:coreProperties xmlns:dc="http://purl.org/dc/elements/1.1/" xmlns:cp="http://schemas.openxmlformats.org/package/2006/metadata/core-properties">
  <dc:title>面向智能体工作负载的轨迹级查询处理与优化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