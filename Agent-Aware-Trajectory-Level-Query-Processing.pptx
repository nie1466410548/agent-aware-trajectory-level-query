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imported_slideLayout1.xml" ContentType="application/vnd.openxmlformats-officedocument.presentationml.slideLayout+xml"/>
  <Override PartName="/ppt/slideMasters/imported_slideMaster1.xml" ContentType="application/vnd.openxmlformats-officedocument.presentationml.slideMaster+xml"/>
  <Override PartName="/ppt/theme/imported_theme1.xml" ContentType="application/vnd.openxmlformats-officedocument.theme+xml"/>
  <Override PartName="/ppt/slideLayouts/imported_1_slideLayout1.xml" ContentType="application/vnd.openxmlformats-officedocument.presentationml.slideLayout+xml"/>
  <Override PartName="/ppt/slideMasters/imported_1_slideMaster1.xml" ContentType="application/vnd.openxmlformats-officedocument.presentationml.slideMaster+xml"/>
  <Override PartName="/ppt/theme/imported_1_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15"/>
    <p:sldMasterId id="2147483650" r:id="rId1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Master" Target="slideMasters/imported_slideMaster1.xml"/><Relationship Id="rId16" Type="http://schemas.openxmlformats.org/officeDocument/2006/relationships/slideMaster" Target="slideMasters/imported_1_slideMaster1.xml"/></Relationships>
</file>

<file path=ppt/slideLayouts/_rels/imported_1_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imported_1_slideMaster1.xml"/></Relationships>
</file>

<file path=ppt/slideLayouts/_rels/imported_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imported_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imported_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imported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imported_1_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imported_1_slideLayout1.xml"/><Relationship Id="rId2" Type="http://schemas.openxmlformats.org/officeDocument/2006/relationships/theme" Target="../theme/imported_1_theme1.xml"/></Relationships>
</file>

<file path=ppt/slideMasters/_rels/imported_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imported_slideLayout1.xml"/><Relationship Id="rId2" Type="http://schemas.openxmlformats.org/officeDocument/2006/relationships/theme" Target="../theme/imported_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imported_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imported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imported_slideLayout1.xml"/><Relationship Id="rId2" Type="http://schemas.openxmlformats.org/officeDocument/2006/relationships/hyperlink" Target="https://www.reuters.com/technology/databricks-buy-startup-neon-1-billion-wsj-reports-2025-05-14/" TargetMode="External"/><Relationship Id="rId3" Type="http://schemas.openxmlformats.org/officeDocument/2006/relationships/hyperlink" Target="https://help.aliyun.com/zh/polardb/polardb-for-postgresql/polardb-agentic-postgresql-public-beta" TargetMode="External"/><Relationship Id="rId4" Type="http://schemas.openxmlformats.org/officeDocument/2006/relationships/hyperlink" Target="https://www.oceanbase.com/docs/common-oceanbase-database-ai-1000000006779059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imported_1_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6952" y="0"/>
            <a:ext cx="4572000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648" y="1627632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810512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C00000"/>
                </a:solidFill>
                <a:latin typeface="MiSans"/>
                <a:ea typeface="MiSans"/>
              </a:rPr>
              <a:t>研究课题立项汇报 · 2026.09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58568"/>
            <a:ext cx="6601968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1D1D1A"/>
                </a:solidFill>
                <a:latin typeface="MiSans"/>
                <a:ea typeface="MiSans"/>
              </a:rPr>
              <a:t>面向智能体工作负载的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1D1D1A"/>
                </a:solidFill>
                <a:latin typeface="MiSans"/>
                <a:ea typeface="MiSans"/>
              </a:rPr>
              <a:t>轨迹级查询处理与优化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12463"/>
            <a:ext cx="6601968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500" b="0" i="0">
                <a:solidFill>
                  <a:srgbClr val="666666"/>
                </a:solidFill>
                <a:latin typeface="MiSans"/>
                <a:ea typeface="MiSans"/>
              </a:rPr>
              <a:t>Agent-Aware Trajectory-Level Query Processing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500" b="0" i="0">
                <a:solidFill>
                  <a:srgbClr val="666666"/>
                </a:solidFill>
                <a:latin typeface="MiSans"/>
                <a:ea typeface="MiSans"/>
              </a:rPr>
              <a:t>and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517136"/>
            <a:ext cx="6601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4D4D4D"/>
                </a:solidFill>
                <a:latin typeface="MiSans"/>
                <a:ea typeface="MiSans"/>
              </a:rPr>
              <a:t>从单条 SQL 优化,走向持续演化的 Agent 查询轨迹优化。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956048"/>
            <a:ext cx="6601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 i="0">
                <a:solidFill>
                  <a:srgbClr val="C00000"/>
                </a:solidFill>
                <a:latin typeface="MiSans"/>
                <a:ea typeface="MiSans"/>
              </a:rPr>
              <a:t>Future Query Unknown, Future Intent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45936"/>
            <a:ext cx="63459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汇报人:___　|　部门:___　|　2026-09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74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MiSans"/>
                <a:ea typeface="MiSans"/>
              </a:rPr>
              <a:t>τ = ⟨q₁, r₁, …, qᵀ, rᵀ⟩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487168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A9B8D8"/>
                </a:solidFill>
                <a:latin typeface="MiSans"/>
                <a:ea typeface="MiSans"/>
              </a:rPr>
              <a:t>同一条结果驱动的查询轨迹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3063240"/>
            <a:ext cx="731520" cy="14630"/>
          </a:xfrm>
          <a:prstGeom prst="rect">
            <a:avLst/>
          </a:prstGeom>
          <a:solidFill>
            <a:srgbClr val="3A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3401568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MiSans"/>
                <a:ea typeface="MiSans"/>
              </a:rPr>
              <a:t>Query Unknown,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13632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MiSans"/>
                <a:ea typeface="MiSans"/>
              </a:rPr>
              <a:t>Intent Visible.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663440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A9B8D8"/>
                </a:solidFill>
                <a:latin typeface="MiSans"/>
                <a:ea typeface="MiSans"/>
              </a:rPr>
              <a:t>优化范式:Reactive → Predictive → Cooperative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2-title"/>
          <p:cNvSpPr txBox="1"/>
          <p:nvPr/>
        </p:nvSpPr>
        <p:spPr>
          <a:xfrm>
            <a:off x="609600" y="330200"/>
            <a:ext cx="1054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D1D1A"/>
                </a:solidFill>
                <a:latin typeface="MiSans"/>
                <a:ea typeface="MiSans"/>
              </a:rPr>
              <a:t>Agent 正在改变数据库的使用方式，但查询优化仍以单条 SQL 为主</a:t>
            </a:r>
            <a:endParaRPr lang="en-US" sz="2500" noProof="1"/>
          </a:p>
        </p:txBody>
      </p:sp>
      <p:sp>
        <p:nvSpPr>
          <p:cNvPr id="3" name="p2-tag"/>
          <p:cNvSpPr txBox="1"/>
          <p:nvPr/>
        </p:nvSpPr>
        <p:spPr>
          <a:xfrm>
            <a:off x="9652000" y="431800"/>
            <a:ext cx="193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A3A3A3"/>
                </a:solidFill>
                <a:latin typeface="MiSans"/>
                <a:ea typeface="MiSans"/>
              </a:rPr>
              <a:t>01 · 行业观察</a:t>
            </a:r>
            <a:endParaRPr lang="en-US" sz="1000" noProof="1"/>
          </a:p>
        </p:txBody>
      </p:sp>
      <p:sp>
        <p:nvSpPr>
          <p:cNvPr id="4" name="p2-redrule"/>
          <p:cNvSpPr/>
          <p:nvPr/>
        </p:nvSpPr>
        <p:spPr>
          <a:xfrm>
            <a:off x="609600" y="863600"/>
            <a:ext cx="584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p2-left-head"/>
          <p:cNvSpPr txBox="1"/>
          <p:nvPr/>
        </p:nvSpPr>
        <p:spPr>
          <a:xfrm>
            <a:off x="609600" y="11176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D1D1A"/>
                </a:solidFill>
                <a:latin typeface="MiSans"/>
                <a:ea typeface="MiSans"/>
              </a:rPr>
              <a:t>海外 · 2025</a:t>
            </a:r>
            <a:endParaRPr lang="en-US" sz="1300" noProof="1"/>
          </a:p>
        </p:txBody>
      </p:sp>
      <p:sp>
        <p:nvSpPr>
          <p:cNvPr id="6" name="p2-left-line"/>
          <p:cNvSpPr/>
          <p:nvPr/>
        </p:nvSpPr>
        <p:spPr>
          <a:xfrm>
            <a:off x="609600" y="1422400"/>
            <a:ext cx="533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7" name="p2-left-items"/>
          <p:cNvSpPr txBox="1"/>
          <p:nvPr/>
        </p:nvSpPr>
        <p:spPr>
          <a:xfrm>
            <a:off x="609600" y="1549400"/>
            <a:ext cx="53340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Databricks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｜约 </a:t>
            </a:r>
            <a:r>
              <a:rPr lang="en-US" sz="1100" noProof="1" b="1">
                <a:solidFill>
                  <a:srgbClr val="C00000"/>
                </a:solidFill>
                <a:latin typeface="MiSans"/>
                <a:ea typeface="MiSans"/>
              </a:rPr>
              <a:t>$1B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 收购 Neon（2025.5）；Lakebase 进入 Public Preview（2025.6）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Neon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｜约 </a:t>
            </a:r>
            <a:r>
              <a:rPr lang="en-US" sz="1100" noProof="1" b="1">
                <a:solidFill>
                  <a:srgbClr val="C00000"/>
                </a:solidFill>
                <a:latin typeface="MiSans"/>
                <a:ea typeface="MiSans"/>
              </a:rPr>
              <a:t>80%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 数据库由自动化 Agent 部署，可</a:t>
            </a: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亚秒级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创建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Snowflake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｜收购 Crunchy Data；AWS / Google 加速布局 Postgres</a:t>
            </a:r>
            <a:endParaRPr lang="en-US" sz="1100" noProof="1"/>
          </a:p>
        </p:txBody>
      </p:sp>
      <p:sp>
        <p:nvSpPr>
          <p:cNvPr id="8" name="p2-right-head"/>
          <p:cNvSpPr txBox="1"/>
          <p:nvPr/>
        </p:nvSpPr>
        <p:spPr>
          <a:xfrm>
            <a:off x="6299200" y="11176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D1D1A"/>
                </a:solidFill>
                <a:latin typeface="MiSans"/>
                <a:ea typeface="MiSans"/>
              </a:rPr>
              <a:t>国内 · 2026</a:t>
            </a:r>
            <a:endParaRPr lang="en-US" sz="1300" noProof="1"/>
          </a:p>
        </p:txBody>
      </p:sp>
      <p:sp>
        <p:nvSpPr>
          <p:cNvPr id="9" name="p2-right-line"/>
          <p:cNvSpPr/>
          <p:nvPr/>
        </p:nvSpPr>
        <p:spPr>
          <a:xfrm>
            <a:off x="6299200" y="1422400"/>
            <a:ext cx="528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0" name="p2-right-items"/>
          <p:cNvSpPr txBox="1"/>
          <p:nvPr/>
        </p:nvSpPr>
        <p:spPr>
          <a:xfrm>
            <a:off x="6299200" y="1549400"/>
            <a:ext cx="52832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阿里云 PolarDB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｜推出 Agentic Database：Scale-to-Zero、秒级数据 Branch、MCP Native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腾讯云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｜发布 AI 数据底座 TDSQL Nexa（2026.8）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OceanBase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｜Fork Table / Database 低开销数据分支与隔离试验；</a:t>
            </a: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SelectDB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｜升级 Agent Native 数据基础设施</a:t>
            </a:r>
            <a:endParaRPr lang="en-US" sz="1100" noProof="1"/>
          </a:p>
        </p:txBody>
      </p:sp>
      <p:graphicFrame>
        <p:nvGraphicFramePr>
          <p:cNvPr id="11" name="p2-table"/>
          <p:cNvGraphicFramePr>
            <a:graphicFrameLocks noGrp="1"/>
          </p:cNvGraphicFramePr>
          <p:nvPr/>
        </p:nvGraphicFramePr>
        <p:xfrm>
          <a:off x="609600" y="3327400"/>
          <a:ext cx="10972800" cy="1676400"/>
        </p:xfrm>
        <a:graphic>
          <a:graphicData uri="http://schemas.openxmlformats.org/drawingml/2006/table">
            <a:tbl>
              <a:tblPr/>
              <a:tblGrid>
                <a:gridCol w="6035040"/>
                <a:gridCol w="4937760"/>
              </a:tblGrid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厂商在做什么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解决什么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</a:tr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快速拉起 / 销毁 / Scale-to-Zero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让 Agent 「用得上」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Data Branch / Fork / 数据沙箱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让 Agent 「用得安全」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Agent Memory / 记忆存储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让 Agent 「记得住」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MCP Server / 语义层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让 Agent 「会查询」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p2-band"/>
          <p:cNvGraphicFramePr>
            <a:graphicFrameLocks noGrp="1"/>
          </p:cNvGraphicFramePr>
          <p:nvPr/>
        </p:nvGraphicFramePr>
        <p:xfrm>
          <a:off x="609600" y="5181600"/>
          <a:ext cx="10972800" cy="9398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939800">
                <a:tc>
                  <a:txBody>
                    <a:bodyPr wrap="square" rtlCol="0" anchor="ctr"/>
                    <a:lstStyle/>
                    <a:p>
                      <a:pPr algn="l" marL="177800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当前 Agent-Native 数据库能力集中于实例弹性、数据分支、记忆/语义与接入；对 Agent 连续产生的相关 SQL，查询优化仍以单条 Query 为边界。</a:t>
                      </a:r>
                    </a:p>
                    <a:p>
                      <a:pPr algn="l" marL="177800">
                        <a:spcBef>
                          <a:spcPts val="600"/>
                        </a:spcBef>
                      </a:pPr>
                      <a:r>
                        <a:rPr lang="en-US" sz="1150" noProof="1">
                          <a:solidFill>
                            <a:srgbClr val="CCDDFF"/>
                          </a:solidFill>
                          <a:latin typeface="Times New Roman"/>
                          <a:ea typeface="Times New Roman"/>
                        </a:rPr>
                        <a:t>本课题切入点：让数据库的查询优化与执行，面向 Agent Trajectory Workload 重新设计。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13" name="p2-footnote"/>
          <p:cNvSpPr txBox="1"/>
          <p:nvPr/>
        </p:nvSpPr>
        <p:spPr>
          <a:xfrm>
            <a:off x="609600" y="6273800"/>
            <a:ext cx="1016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来源：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Reuters</a:t>
            </a: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（2025.05）、Neon 官方文档、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阿里云 PolarDB 文档</a:t>
            </a: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、腾讯云（2026.08）、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OceanBase 文档中心</a:t>
            </a:r>
            <a:endParaRPr lang="en-US" sz="900" noProof="1"/>
          </a:p>
        </p:txBody>
      </p:sp>
      <p:sp>
        <p:nvSpPr>
          <p:cNvPr id="14" name="p2-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2 / 7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Agent 的数据访问不是一条 SQL,而是一条结果驱动的查询轨迹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02 · 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一个高层任务 → 一串相互依赖的 SQL:对数据库而言是一种全新的 workload 形态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261872"/>
            <a:ext cx="10972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17904"/>
            <a:ext cx="1097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D1D1A"/>
                </a:solidFill>
                <a:latin typeface="MiSans"/>
                <a:ea typeface="MiSans"/>
              </a:rPr>
              <a:t>为什么 8 月
收入下降?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8064" y="1261872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1316736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q₁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1517904"/>
            <a:ext cx="13258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D1D1A"/>
                </a:solidFill>
                <a:latin typeface="MiSans"/>
                <a:ea typeface="MiSans"/>
              </a:rPr>
              <a:t>按国家统计
8 月收入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261872"/>
            <a:ext cx="1097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r₁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517904"/>
            <a:ext cx="1097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iSans"/>
                <a:ea typeface="MiSans"/>
              </a:rPr>
              <a:t>加拿大
收入下降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261872"/>
            <a:ext cx="1417320" cy="7772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13167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iSans"/>
                <a:ea typeface="MiSans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1517904"/>
            <a:ext cx="14173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Sans"/>
                <a:ea typeface="MiSans"/>
              </a:rPr>
              <a:t>依据结果推理
决定下一条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51775" y="1261872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5" y="1316736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q₂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5" y="1517904"/>
            <a:ext cx="13258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D1D1A"/>
                </a:solidFill>
                <a:latin typeface="MiSans"/>
                <a:ea typeface="MiSans"/>
              </a:rPr>
              <a:t>加拿大 ×
产品分析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517904"/>
            <a:ext cx="3657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iSans"/>
                <a:ea typeface="MiSans"/>
              </a:rPr>
              <a:t>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18904" y="1261872"/>
            <a:ext cx="1188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18904" y="131673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qᵀ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1517904"/>
            <a:ext cx="1188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D1D1A"/>
                </a:solidFill>
                <a:latin typeface="MiSans"/>
                <a:ea typeface="MiSans"/>
              </a:rPr>
              <a:t>时间趋势
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23944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8968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7656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231136"/>
            <a:ext cx="10972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qₜ₊₁ = Agent(Task, Stateₜ, q₊ₜ, r₊ₜ)</a:t>
            </a:r>
            <a:r>
              <a:rPr sz="1100" b="0" i="0">
                <a:solidFill>
                  <a:srgbClr val="666666"/>
                </a:solidFill>
                <a:latin typeface="MiSans"/>
                <a:ea typeface="MiSans"/>
              </a:rPr>
              <a:t>   —— 下一条 SQL 由前序结果与任务状态共同决定;r₁ 若是别的结果,后续轨迹随之完全不同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12648" y="2615184"/>
          <a:ext cx="10972800" cy="2523744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6634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对比维度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人 / 传统应用程序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Data Agent(智能体)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访问模式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手写 SQL 或预定义模板,一次提交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围绕任务连续生成多步 SQL,迭代式访问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查询间关系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彼此独立或弱相关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数据范围、谓词、Join、聚合维度高度相关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下一查询由谁决定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人 / 固定业务逻辑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由前序结果动态决定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未来意图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不可见:存在于人脑或黑盒程序中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可主动暴露:Goal / Plan / Stage / Candidate Actions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访问空间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受 UI、报表模板限制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任意 SQL、跨表 Join、schema 探索,开放且难预测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合适的优化单元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单条查询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完整查询轨迹 τ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Sans"/>
                <a:ea typeface="MiSans"/>
              </a:rPr>
              <a:t>未来查询未知，但未来意图部分可见 —— </a:t>
            </a:r>
            <a:r>
              <a:rPr sz="1200" b="1" i="0">
                <a:solidFill>
                  <a:srgbClr val="FFB3B3"/>
                </a:solidFill>
                <a:latin typeface="MiSans"/>
                <a:ea typeface="MiSans"/>
              </a:rPr>
              <a:t>Query Unknown, Intent Visible</a:t>
            </a:r>
            <a:r>
              <a:rPr sz="1200" b="1" i="0">
                <a:solidFill>
                  <a:srgbClr val="FFFFFF"/>
                </a:solidFill>
                <a:latin typeface="MiSans"/>
                <a:ea typeface="MiSans"/>
              </a:rPr>
              <a:t> —— 一种数据库从未面对过的信息条件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单查询最优 ≠ Agent 任务最优:一个带数字的例子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02 · 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为什么逐条独立优化会输 —— sales 表 20 GB / 1 亿行,8 月子集 10%(2 GB),代价单位任意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16736"/>
            <a:ext cx="10972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 i="0">
                <a:solidFill>
                  <a:srgbClr val="C00000"/>
                </a:solidFill>
                <a:latin typeface="MiSans"/>
                <a:ea typeface="MiSans"/>
              </a:rPr>
              <a:t>q₁</a:t>
            </a:r>
            <a:r>
              <a:rPr sz="1100" b="0" i="0">
                <a:solidFill>
                  <a:srgbClr val="4D4D4D"/>
                </a:solidFill>
                <a:latin typeface="MiSans"/>
                <a:ea typeface="MiSans"/>
              </a:rPr>
              <a:t>:8 月 × 国家　　　</a:t>
            </a:r>
            <a:r>
              <a:rPr sz="1100" b="1" i="0">
                <a:solidFill>
                  <a:srgbClr val="C00000"/>
                </a:solidFill>
                <a:latin typeface="MiSans"/>
                <a:ea typeface="MiSans"/>
              </a:rPr>
              <a:t>q₂</a:t>
            </a:r>
            <a:r>
              <a:rPr sz="1100" b="0" i="0">
                <a:solidFill>
                  <a:srgbClr val="4D4D4D"/>
                </a:solidFill>
                <a:latin typeface="MiSans"/>
                <a:ea typeface="MiSans"/>
              </a:rPr>
              <a:t>:8 月 × 加拿大 × 产品　　　</a:t>
            </a:r>
            <a:r>
              <a:rPr sz="1100" b="1" i="0">
                <a:solidFill>
                  <a:srgbClr val="C00000"/>
                </a:solidFill>
                <a:latin typeface="MiSans"/>
                <a:ea typeface="MiSans"/>
              </a:rPr>
              <a:t>q₃</a:t>
            </a:r>
            <a:r>
              <a:rPr sz="1100" b="0" i="0">
                <a:solidFill>
                  <a:srgbClr val="4D4D4D"/>
                </a:solidFill>
                <a:latin typeface="MiSans"/>
                <a:ea typeface="MiSans"/>
              </a:rPr>
              <a:t>:8 月 × 加拿大 × 客户类型 —— 三条查询同一数据子集,仅聚合维度不同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645920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1D1D1A"/>
                </a:solidFill>
                <a:latin typeface="MiSans"/>
                <a:ea typeface="MiSans"/>
              </a:rPr>
              <a:t>方案 A · 逐条独立优化(现状)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1928" y="1645920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C00000"/>
                </a:solidFill>
                <a:latin typeface="MiSans"/>
                <a:ea typeface="MiSans"/>
              </a:rPr>
              <a:t>方案 B · 轨迹感知优化(本课题)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" y="1901952"/>
          <a:ext cx="5303520" cy="1371600"/>
        </p:xfrm>
        <a:graphic>
          <a:graphicData uri="http://schemas.openxmlformats.org/drawingml/2006/table">
            <a:tbl>
              <a:tblPr/>
              <a:tblGrid>
                <a:gridCol w="502920"/>
                <a:gridCol w="352044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查询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最优计划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代价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q₁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全表扫描 + 过滤 + 聚合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100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q₂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全表扫描 + 过滤 + 聚合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100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q₃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全表扫描 + 过滤 + 聚合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100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合计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同一子集被过滤了三遍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300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81928" y="1901952"/>
          <a:ext cx="5303520" cy="1371600"/>
        </p:xfrm>
        <a:graphic>
          <a:graphicData uri="http://schemas.openxmlformats.org/drawingml/2006/table">
            <a:tbl>
              <a:tblPr/>
              <a:tblGrid>
                <a:gridCol w="502920"/>
                <a:gridCol w="352044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查询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计划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代价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q₁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扫描 + 顺带物化 M₁(2 GB)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110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q₂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直接扫 M₁(q₂ ⊆ M₁)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12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q₃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直接扫 M₁(换聚合维度)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12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合计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整体成本 ↓ 55%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134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" y="3364992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666666"/>
                </a:solidFill>
                <a:latin typeface="MiSans"/>
                <a:ea typeface="MiSans"/>
              </a:rPr>
              <a:t>三条各自最优、无一可再省 —— 但整体在重复劳动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3364992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 i="0">
                <a:solidFill>
                  <a:srgbClr val="C00000"/>
                </a:solidFill>
                <a:latin typeface="MiSans"/>
                <a:ea typeface="MiSans"/>
              </a:rPr>
              <a:t>物化让 q₁ 变贵 10(110 &gt; 100),换回 q₂、q₃ 各省 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621024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① 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C(q₁ + 物化) = 110 &gt; C(q₁) = 100 —— 物化对 q₁ 单独是亏本决策,单查询优化器永远不会主动做;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858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② 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决策发生在执行 q₁ 的时刻:q₂、q₃ 尚未产生(Agent 还没看到 r₁)—— 没有未来输入,也没有 batch 可看;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096511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③ 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8 月子集在 q₁ 执行时明明流过内存,却即用即弃 —— 缺的不是数据,是跨查询物理状态机制。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443984"/>
            <a:ext cx="10972800" cy="40233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443984"/>
            <a:ext cx="10424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Sans"/>
                <a:ea typeface="MiSans"/>
              </a:rPr>
              <a:t>Σ min Cost(qᵢ) = 300    ≠    min Cost(q₁, q₂, q₃) = 134</a:t>
            </a:r>
            <a:r>
              <a:rPr sz="1250" b="1" i="0">
                <a:solidFill>
                  <a:srgbClr val="FFB3B3"/>
                </a:solidFill>
                <a:latin typeface="MiSans"/>
                <a:ea typeface="MiSans"/>
              </a:rPr>
              <a:t>    → 目标升级为 minₜ Cost(τ, 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029200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Challenge｜为什么难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5303520"/>
            <a:ext cx="5303520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394960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Future Unknown</a:t>
            </a:r>
            <a:r>
              <a:rPr sz="1300" b="0" i="0">
                <a:solidFill>
                  <a:srgbClr val="4D4D4D"/>
                </a:solidFill>
                <a:latin typeface="MiSans"/>
                <a:ea typeface="MiSans"/>
              </a:rPr>
              <a:t>　下一条具体 SQL 此刻尚不存在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925312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Result-Dependent</a:t>
            </a:r>
            <a:r>
              <a:rPr sz="1300" b="0" i="0">
                <a:solidFill>
                  <a:srgbClr val="4D4D4D"/>
                </a:solidFill>
                <a:latin typeface="MiSans"/>
                <a:ea typeface="MiSans"/>
              </a:rPr>
              <a:t>　后续访问方向由当前结果改变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5029200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MiSans"/>
                <a:ea typeface="MiSans"/>
              </a:rPr>
              <a:t>Opportunity｜为什么有机会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8" y="5303520"/>
            <a:ext cx="5303520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5394960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MiSans"/>
                <a:ea typeface="MiSans"/>
              </a:rPr>
              <a:t>Goal-Driven</a:t>
            </a:r>
            <a:r>
              <a:rPr sz="1300" b="0" i="0">
                <a:solidFill>
                  <a:srgbClr val="4D4D4D"/>
                </a:solidFill>
                <a:latin typeface="MiSans"/>
                <a:ea typeface="MiSans"/>
              </a:rPr>
              <a:t>　多条查询围绕同一个高层任务展开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5925312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MiSans"/>
                <a:ea typeface="MiSans"/>
              </a:rPr>
              <a:t>Intent-Exposable</a:t>
            </a:r>
            <a:r>
              <a:rPr sz="1300" b="0" i="0">
                <a:solidFill>
                  <a:srgbClr val="4D4D4D"/>
                </a:solidFill>
                <a:latin typeface="MiSans"/>
                <a:ea typeface="MiSans"/>
              </a:rPr>
              <a:t>　SQL 尚未生成，但 Agent 已有目标、阶段与候选下一步动作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5-title"/>
          <p:cNvSpPr txBox="1"/>
          <p:nvPr/>
        </p:nvSpPr>
        <p:spPr>
          <a:xfrm>
            <a:off x="609600" y="330200"/>
            <a:ext cx="1054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D1D1A"/>
                </a:solidFill>
                <a:latin typeface="MiSans"/>
                <a:ea typeface="MiSans"/>
              </a:rPr>
              <a:t>业务价值：从 Query Latency 到 Agent Task Completion Time</a:t>
            </a:r>
            <a:endParaRPr lang="en-US" sz="2500" noProof="1"/>
          </a:p>
        </p:txBody>
      </p:sp>
      <p:sp>
        <p:nvSpPr>
          <p:cNvPr id="3" name="p5-tag"/>
          <p:cNvSpPr txBox="1"/>
          <p:nvPr/>
        </p:nvSpPr>
        <p:spPr>
          <a:xfrm>
            <a:off x="9652000" y="431800"/>
            <a:ext cx="193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A3A3A3"/>
                </a:solidFill>
                <a:latin typeface="MiSans"/>
                <a:ea typeface="MiSans"/>
              </a:rPr>
              <a:t>03 · 业务价值</a:t>
            </a:r>
            <a:endParaRPr lang="en-US" sz="1000" noProof="1"/>
          </a:p>
        </p:txBody>
      </p:sp>
      <p:sp>
        <p:nvSpPr>
          <p:cNvPr id="4" name="p5-redrule"/>
          <p:cNvSpPr/>
          <p:nvPr/>
        </p:nvSpPr>
        <p:spPr>
          <a:xfrm>
            <a:off x="609600" y="863600"/>
            <a:ext cx="584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p5-lead"/>
          <p:cNvSpPr txBox="1"/>
          <p:nvPr/>
        </p:nvSpPr>
        <p:spPr>
          <a:xfrm>
            <a:off x="609600" y="11684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4D4D4D"/>
                </a:solidFill>
                <a:latin typeface="MiSans"/>
                <a:ea typeface="MiSans"/>
              </a:rPr>
              <a:t>Agent 正成为数据库新的、高增长的数据访问主体。</a:t>
            </a: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它的两个特点放大了查询处理的杠杆：</a:t>
            </a:r>
            <a:endParaRPr lang="en-US" sz="1250" noProof="1"/>
          </a:p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· </a:t>
            </a:r>
            <a:r>
              <a:rPr lang="en-US" sz="1250" noProof="1" b="1">
                <a:solidFill>
                  <a:srgbClr val="4D4D4D"/>
                </a:solidFill>
                <a:latin typeface="MiSans"/>
                <a:ea typeface="MiSans"/>
              </a:rPr>
              <a:t>高频</a:t>
            </a: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：一个任务产生数倍于人的查询量，且 7×24 发生；</a:t>
            </a:r>
            <a:endParaRPr lang="en-US" sz="1250" noProof="1"/>
          </a:p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· </a:t>
            </a:r>
            <a:r>
              <a:rPr lang="en-US" sz="1250" noProof="1" b="1">
                <a:solidFill>
                  <a:srgbClr val="4D4D4D"/>
                </a:solidFill>
                <a:latin typeface="MiSans"/>
                <a:ea typeface="MiSans"/>
              </a:rPr>
              <a:t>高相关</a:t>
            </a: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：同一任务内的查询大量重复访问同一数据子集，冗余扫描与重复计算被成倍放大。</a:t>
            </a:r>
            <a:endParaRPr lang="en-US" sz="1250" noProof="1"/>
          </a:p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第 4 页的浪费不是个例，而是 Agent 负载的</a:t>
            </a:r>
            <a:r>
              <a:rPr lang="en-US" sz="1250" noProof="1" b="1">
                <a:solidFill>
                  <a:srgbClr val="C00000"/>
                </a:solidFill>
                <a:latin typeface="MiSans"/>
                <a:ea typeface="MiSans"/>
              </a:rPr>
              <a:t>结构性特征</a:t>
            </a: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</p:txBody>
      </p:sp>
      <p:graphicFrame>
        <p:nvGraphicFramePr>
          <p:cNvPr id="6" name="p5-table"/>
          <p:cNvGraphicFramePr>
            <a:graphicFrameLocks noGrp="1"/>
          </p:cNvGraphicFramePr>
          <p:nvPr/>
        </p:nvGraphicFramePr>
        <p:xfrm>
          <a:off x="609600" y="2590800"/>
          <a:ext cx="10972800" cy="2184400"/>
        </p:xfrm>
        <a:graphic>
          <a:graphicData uri="http://schemas.openxmlformats.org/drawingml/2006/table">
            <a:tbl>
              <a:tblPr/>
              <a:tblGrid>
                <a:gridCol w="3730752"/>
                <a:gridCol w="3621024"/>
                <a:gridCol w="3621024"/>
              </a:tblGrid>
              <a:tr h="48056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用户侧价值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平台侧价值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产品战略价值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</a:tr>
              <a:tr h="56794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Agent 响应更快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重复扫描 / 重复计算减少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形成 Agent-aware 的数据库内核能力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794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长任务等待时间降低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CPU / I/O / 内存成本下降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与普通 PostgreSQL / Cloud DB 拉开差异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56794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降低 timeout / budget 耗尽风险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同样资源支撑更多 Agent 并发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从 Agent Friendly 走向 Agent Native Query Processing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p5-keynote-label"/>
          <p:cNvSpPr txBox="1"/>
          <p:nvPr/>
        </p:nvSpPr>
        <p:spPr>
          <a:xfrm>
            <a:off x="609600" y="50292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C00000"/>
                </a:solidFill>
                <a:latin typeface="MiSans"/>
                <a:ea typeface="MiSans"/>
              </a:rPr>
              <a:t>关键判断</a:t>
            </a:r>
            <a:endParaRPr lang="en-US" sz="1050" noProof="1"/>
          </a:p>
        </p:txBody>
      </p:sp>
      <p:sp>
        <p:nvSpPr>
          <p:cNvPr id="8" name="p5-keynote"/>
          <p:cNvSpPr txBox="1"/>
          <p:nvPr/>
        </p:nvSpPr>
        <p:spPr>
          <a:xfrm>
            <a:off x="609600" y="5283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b="1">
                <a:solidFill>
                  <a:srgbClr val="1D1D1A"/>
                </a:solidFill>
                <a:latin typeface="MiSans"/>
                <a:ea typeface="MiSans"/>
              </a:rPr>
              <a:t>这是与模型能力提升正交、可以由系统侧直接获取的性能收益。</a:t>
            </a:r>
            <a:endParaRPr lang="en-US" sz="1450" noProof="1"/>
          </a:p>
        </p:txBody>
      </p:sp>
      <p:graphicFrame>
        <p:nvGraphicFramePr>
          <p:cNvPr id="9" name="p5-takeaway"/>
          <p:cNvGraphicFramePr>
            <a:graphicFrameLocks noGrp="1"/>
          </p:cNvGraphicFramePr>
          <p:nvPr/>
        </p:nvGraphicFramePr>
        <p:xfrm>
          <a:off x="609600" y="6299200"/>
          <a:ext cx="10972800" cy="3556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355600">
                <a:tc>
                  <a:txBody>
                    <a:bodyPr wrap="square" rtlCol="0" anchor="ctr"/>
                    <a:lstStyle/>
                    <a:p>
                      <a:pPr algn="l" marL="152400"/>
                      <a:r>
                        <a:rPr lang="en-US" sz="125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让数据底座成为最懂 Agent 的那一个：别人优化 Agent 的「大脑」，我们优化 Agent 脚下的「路」。</a:t>
                      </a:r>
                    </a:p>
                  </a:txBody>
                  <a:tcPr marL="91440" marR="91440" marT="45720" marB="45720" anchor="ctr">
                    <a:lnL w="38100">
                      <a:solidFill>
                        <a:srgbClr val="C00000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p5-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5 / 7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已有系统如何获得「未来工作负载」信息:四种范式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04 · 相关工作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按「数据库做当前决策时,对未来 workload 知道什么」归类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298448"/>
          <a:ext cx="10972800" cy="3236976"/>
        </p:xfrm>
        <a:graphic>
          <a:graphicData uri="http://schemas.openxmlformats.org/drawingml/2006/table">
            <a:tbl>
              <a:tblPr/>
              <a:tblGrid>
                <a:gridCol w="1600200"/>
                <a:gridCol w="2240280"/>
                <a:gridCol w="2240280"/>
                <a:gridCol w="2240280"/>
                <a:gridCol w="265176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维度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Ⅰ Current-Query
无未来信息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Ⅱ Known-Future
未来查询已知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Ⅲ Inferred-Future
从历史推断未来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Ⅳ Exposed-Future
意图可暴露 ★ 本课题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信息条件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当前查询 + Schema + 统计信息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qₜ₊₁, qₜ₊₂, … 直接可见(显式 + 确定)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P(W_f | W_past) — 隐式 + 概率性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qₜ₊₁ 未知,但 Goal / Plan / Stage / CandidateActions 可暴露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回答的问题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“这条查询怎么执行最便宜?”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“给定整批 workload,如何共享执行?”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“根据过去的行为,接下来可能访问什么?”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“负载生成者接下来想做什么,我现在该准备什么?”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代表系统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传统 Query Optimizer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MQO · ReProVide · AutoCox(procedural SQL)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HAWC · HashStash · SparkCruise · ForeCache · PreView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本课题:Agent–DB 协同优化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特点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Reactive:查询到达 → 优化 → 执行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Perfect Foresight:直接规划跨查询共享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Behavior-Driven:由观察反推未来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Query Unknown, Intent Visible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4828032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1D1D1A"/>
                </a:solidFill>
                <a:latin typeface="MiSans"/>
                <a:ea typeface="MiSans"/>
              </a:rPr>
              <a:t>关键差异不在「是否预测未来」,而在「未来信息从哪里来」:</a:t>
            </a:r>
            <a:r>
              <a:rPr sz="1200" b="1" i="0">
                <a:solidFill>
                  <a:srgbClr val="C00000"/>
                </a:solidFill>
                <a:latin typeface="MiSans"/>
                <a:ea typeface="MiSans"/>
              </a:rPr>
              <a:t>观察行为推断 → 生成者主动暴露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138928"/>
            <a:ext cx="10972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4D4D4D"/>
                </a:solidFill>
                <a:latin typeface="MiSans"/>
                <a:ea typeface="MiSans"/>
              </a:rPr>
              <a:t>范式演进:Reactive(只看当前查询)→ Predictive(从历史预测未来)→ Cooperative(意图 + 轨迹观测协同)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742432"/>
            <a:ext cx="10972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50" b="0" i="0">
                <a:solidFill>
                  <a:srgbClr val="A3A3A3"/>
                </a:solidFill>
                <a:latin typeface="MiSans"/>
                <a:ea typeface="MiSans"/>
              </a:rPr>
              <a:t>注:PreView(2026)、AutoCox(2026, Data &amp; Knowledge Engineering)为近年工作,正式版将补充完整引用。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Sans"/>
                <a:ea typeface="MiSans"/>
              </a:rPr>
              <a:t>信息条件升级:P(W_f | W_past)  →  P(W_f | W_past, R_past, AgentContext)</a:t>
            </a:r>
            <a:r>
              <a:rPr sz="1150" b="1" i="0">
                <a:solidFill>
                  <a:srgbClr val="FFB3B3"/>
                </a:solidFill>
                <a:latin typeface="MiSans"/>
                <a:ea typeface="MiSans"/>
              </a:rPr>
              <a:t>    —— 未来意图第一次由 workload generator 主动提供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研究现状全景:与六类相关工作的系统对比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04 · 相关工作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16 个比较维度 × 6 个研究方向;✓ 具备 / ✗ 不具备 / △ 部分具备或视情况,红色列为本研究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280160"/>
          <a:ext cx="10963656" cy="4700004"/>
        </p:xfrm>
        <a:graphic>
          <a:graphicData uri="http://schemas.openxmlformats.org/drawingml/2006/table">
            <a:tbl>
              <a:tblPr/>
              <a:tblGrid>
                <a:gridCol w="1691640"/>
                <a:gridCol w="1545336"/>
                <a:gridCol w="1545336"/>
                <a:gridCol w="1545336"/>
                <a:gridCol w="1545336"/>
                <a:gridCol w="1545336"/>
                <a:gridCol w="1545336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比较维度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Traditional Query Optimization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MQO / Known Query Sequence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History-Aware Reuse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Interactive / Predictive Exploration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Agentic Query / Workflow Systems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本研究：Agent-Aware Trajectory Optimization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主要优化单元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单条 Query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Query batch / 已知 sequence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Query history + current query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Interactive session / future access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Agentic plan / workflow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Evolving Agent query trajectory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未来具体 Query 是否可见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△，取决于 workflow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未来访问是否可预测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不需要预测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△，从历史 reuse pattern 推断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✓，从历史/交互行为预测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Future intent 是否直接可见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Query 本身已知，因此通常不需要 intent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✗，用户 intent 通常是黑盒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 / 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✓，作为核心输入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Workload generator 是否参与优化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通常 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✓，Agent 属于执行系统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✓，Agent 与 DB 显式协同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Future query 是否受当前结果影响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不考虑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通常已固定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✓，核心 workload 特征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Future uncertainty 是否显式建模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✓，作为优化问题的一部分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跨 Query 共享计算/结果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mechanism-specific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通常不是核心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主动创建 Future-Oriented Physical State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 / 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✓，通常针对特定机制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✓，核心能力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物化结果 / Intermediate Reuse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当前 Query 内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Prefetch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execution-level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Ephemeral Physical Design / Index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现有 index selection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部分，如 procedural SQL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较少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较少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非核心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✓，潜在统一 action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多类 Physical State 的统一决策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通常单机制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目标：✓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核心 Future 信息来源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无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未来 Query 本身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Past Queries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Past Queries / User Behavior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Agent workflow state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Agent Intent + Trajectory Observation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信息状态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No Future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Known Future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Inferred Future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Inferred Future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Agent-Aware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Exposed but Uncertain Future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核心优化目标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Current-query cost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Batch / sequence cost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Future query reuse benefit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Interactive latency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Quality / workflow cost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Expected trajectory-level DB cost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Sans"/>
                <a:ea typeface="MiSans"/>
              </a:rPr>
              <a:t>最关键的差异不是「本研究一列 ✓ 最多」,而是前三个未来信息维度 —— </a:t>
            </a:r>
            <a:r>
              <a:rPr sz="1150" b="1" i="0">
                <a:solidFill>
                  <a:srgbClr val="FFB3B3"/>
                </a:solidFill>
                <a:latin typeface="MiSans"/>
                <a:ea typeface="MiSans"/>
              </a:rPr>
              <a:t>Future Query Visibility / Predictability / Intent Visibility</a:t>
            </a:r>
            <a:r>
              <a:rPr sz="1150" b="1" i="0">
                <a:solidFill>
                  <a:srgbClr val="FFFFFF"/>
                </a:solidFill>
                <a:latin typeface="MiSans"/>
                <a:ea typeface="MiSans"/>
              </a:rPr>
              <a:t> —— 它们定义了根本的信息条件差异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研究空白:Future Query Unknown, Future Intent Visible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04 · 研究定位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两个维度定位全部相关工作:未来查询可见性 × 负载生成者可见性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371600"/>
            <a:ext cx="2377440" cy="1938528"/>
          </a:xfrm>
          <a:prstGeom prst="rect">
            <a:avLst/>
          </a:prstGeom>
          <a:solidFill>
            <a:srgbClr val="F2F2F2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8132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MiSans"/>
                <a:ea typeface="MiSans"/>
              </a:rPr>
              <a:t>★ 本课题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 i="0">
                <a:solidFill>
                  <a:srgbClr val="1D1D1A"/>
                </a:solidFill>
                <a:latin typeface="MiSans"/>
                <a:ea typeface="MiSans"/>
              </a:rPr>
              <a:t>Query Unknown, Intent Visible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Agent 暴露意图 + 轨迹观测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→ 跨查询物理状态优化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48132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 i="0">
                <a:solidFill>
                  <a:srgbClr val="666666"/>
                </a:solidFill>
                <a:latin typeface="MiSans"/>
                <a:ea typeface="MiSans"/>
              </a:rPr>
              <a:t>计划完全确定的 Agent 工作流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A3A3A3"/>
                </a:solidFill>
                <a:latin typeface="MiSans"/>
                <a:ea typeface="MiSans"/>
              </a:rPr>
              <a:t>query 已知 + 生成者可见(退化 / 少见情形)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9300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Inferred-Future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EDA · ForeCache · HAWC · SparkCruise · PreView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66666"/>
                </a:solidFill>
                <a:latin typeface="MiSans"/>
                <a:ea typeface="MiSans"/>
              </a:rPr>
              <a:t>观察行为 → 推断未来(黑盒生成者)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49300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Known-Future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MQO · ReProVide · AutoCox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66666"/>
                </a:solidFill>
                <a:latin typeface="MiSans"/>
                <a:ea typeface="MiSans"/>
              </a:rPr>
              <a:t>未来 query 直接可见(Perfect Foresight)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440680"/>
            <a:ext cx="5074920" cy="16459"/>
          </a:xfrm>
          <a:prstGeom prst="rect">
            <a:avLst/>
          </a:prstGeom>
          <a:solidFill>
            <a:srgbClr val="1D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5943600" y="5362956"/>
            <a:ext cx="146304" cy="164592"/>
          </a:xfrm>
          <a:prstGeom prst="triangle">
            <a:avLst/>
          </a:prstGeom>
          <a:solidFill>
            <a:srgbClr val="1D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41264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Future Query Visibility:Unknown → Known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325880"/>
            <a:ext cx="16459" cy="4114800"/>
          </a:xfrm>
          <a:prstGeom prst="rect">
            <a:avLst/>
          </a:prstGeom>
          <a:solidFill>
            <a:srgbClr val="1D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845820" y="1298448"/>
            <a:ext cx="146304" cy="164592"/>
          </a:xfrm>
          <a:prstGeom prst="triangle">
            <a:avLst/>
          </a:prstGeom>
          <a:solidFill>
            <a:srgbClr val="1D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2377440"/>
            <a:ext cx="384048" cy="2011680"/>
          </a:xfrm>
          <a:prstGeom prst="rect">
            <a:avLst/>
          </a:prstGeom>
          <a:noFill/>
        </p:spPr>
        <p:txBody>
          <a:bodyPr wrap="square" anchor="ctr" lIns="0" rIns="0" tIns="0" bIns="0" vert="vert27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Workload Generator Visibility:Black-box → Intent 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87044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iSans"/>
                <a:ea typeface="MiSans"/>
              </a:rPr>
              <a:t>Agentic systems 让 workload generator 第一次变得可观察,但其优化对象是 Agent 的动作流,而非 DB 的跨查询物理状态。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2984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与最近邻的三个本质差异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1572768"/>
            <a:ext cx="4846320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1737360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i="0">
                <a:solidFill>
                  <a:srgbClr val="C00000"/>
                </a:solidFill>
                <a:latin typeface="MiSans"/>
                <a:ea typeface="MiSans"/>
              </a:rPr>
              <a:t>① Intent before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011679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未来 SQL 生成之前,Agent 已可暴露 Goal / Stage / Candidate Actions;信息来源从「观察行为」变为「生成者主动供给」。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03580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i="0">
                <a:solidFill>
                  <a:srgbClr val="C00000"/>
                </a:solidFill>
                <a:latin typeface="MiSans"/>
                <a:ea typeface="MiSans"/>
              </a:rPr>
              <a:t>② Uncertain by Nature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310127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Intent ≠ Future SQL:后续查询仍由中间结果驱动,可能随时转向;不确定性必须显式进入优化问题。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334256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i="0">
                <a:solidFill>
                  <a:srgbClr val="C00000"/>
                </a:solidFill>
                <a:latin typeface="MiSans"/>
                <a:ea typeface="MiSans"/>
              </a:rPr>
              <a:t>③ Optimize Physical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608576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数据库将意图转化为 retain / materialize / prefetch / index / evict 决策 ——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C00000"/>
                </a:solidFill>
                <a:latin typeface="MiSans"/>
                <a:ea typeface="MiSans"/>
              </a:rPr>
              <a:t>Agent-Aware Cross-Query Physical State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Sans"/>
                <a:ea typeface="MiSans"/>
              </a:rPr>
              <a:t>Known → Inferred → Exposed Future      |      Reactive → Predictive → Cooperative      |      </a:t>
            </a:r>
            <a:r>
              <a:rPr sz="1200" b="1" i="0">
                <a:solidFill>
                  <a:srgbClr val="FFB3B3"/>
                </a:solidFill>
                <a:latin typeface="MiSans"/>
                <a:ea typeface="MiSans"/>
              </a:rPr>
              <a:t>Query Unknown, Intent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8 / 8</a:t>
            </a:r>
          </a:p>
        </p:txBody>
      </p:sp>
    </p:spTree>
  </p:cSld>
  <p:clrMapOvr>
    <a:masterClrMapping/>
  </p:clrMapOvr>
</p:sld>
</file>

<file path=ppt/theme/imported_1_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theme/imported_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