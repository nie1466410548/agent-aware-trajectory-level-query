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16952" y="0"/>
            <a:ext cx="4572000" cy="6858000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648" y="1627632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1810512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研究课题立项汇报 · 2026.09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2258568"/>
            <a:ext cx="6601968" cy="1271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1D1D1A"/>
                </a:solidFill>
                <a:latin typeface="MiSans"/>
                <a:ea typeface="MiSans"/>
              </a:rPr>
              <a:t>面向智能体工作负载的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3200" b="1" i="0">
                <a:solidFill>
                  <a:srgbClr val="1D1D1A"/>
                </a:solidFill>
                <a:latin typeface="MiSans"/>
                <a:ea typeface="MiSans"/>
              </a:rPr>
              <a:t>轨迹级查询处理与优化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3712463"/>
            <a:ext cx="6601968" cy="557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500" b="0" i="0">
                <a:solidFill>
                  <a:srgbClr val="666666"/>
                </a:solidFill>
                <a:latin typeface="MiSans"/>
                <a:ea typeface="MiSans"/>
              </a:rPr>
              <a:t>Agent-Aware Trajectory-Level Query Processing</a:t>
            </a:r>
          </a:p>
          <a:p>
            <a:pPr algn="l">
              <a:lnSpc>
                <a:spcPct val="112000"/>
              </a:lnSpc>
              <a:spcAft>
                <a:spcPts val="100"/>
              </a:spcAft>
            </a:pPr>
            <a:r>
              <a:rPr sz="1500" b="0" i="0">
                <a:solidFill>
                  <a:srgbClr val="666666"/>
                </a:solidFill>
                <a:latin typeface="MiSans"/>
                <a:ea typeface="MiSans"/>
              </a:rPr>
              <a:t>and Optimization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4517136"/>
            <a:ext cx="6601968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4D4D4D"/>
                </a:solidFill>
                <a:latin typeface="MiSans"/>
                <a:ea typeface="MiSans"/>
              </a:rPr>
              <a:t>从单条 SQL 优化,走向持续演化的 Agent 查询轨迹优化。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4956048"/>
            <a:ext cx="66019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1" i="0">
                <a:solidFill>
                  <a:srgbClr val="C00000"/>
                </a:solidFill>
                <a:latin typeface="MiSans"/>
                <a:ea typeface="MiSans"/>
              </a:rPr>
              <a:t>Future Query Unknown, Future Intent Visible.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6345936"/>
            <a:ext cx="634593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汇报人:___　|　部门:___　|　2026-09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740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MiSans"/>
                <a:ea typeface="MiSans"/>
              </a:rPr>
              <a:t>τ = ⟨q₁, r₁, …, qᵀ, rᵀ⟩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2487168"/>
            <a:ext cx="38404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A9B8D8"/>
                </a:solidFill>
                <a:latin typeface="MiSans"/>
                <a:ea typeface="MiSans"/>
              </a:rPr>
              <a:t>同一条结果驱动的查询轨迹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3063240"/>
            <a:ext cx="731520" cy="14630"/>
          </a:xfrm>
          <a:prstGeom prst="rect">
            <a:avLst/>
          </a:prstGeom>
          <a:solidFill>
            <a:srgbClr val="3A5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3401568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iSans"/>
                <a:ea typeface="MiSans"/>
              </a:rPr>
              <a:t>Query Unknown,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913632"/>
            <a:ext cx="3840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400" b="1" i="0">
                <a:solidFill>
                  <a:srgbClr val="FFFFFF"/>
                </a:solidFill>
                <a:latin typeface="MiSans"/>
                <a:ea typeface="MiSans"/>
              </a:rPr>
              <a:t>Intent Visible.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4663440"/>
            <a:ext cx="4023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A9B8D8"/>
                </a:solidFill>
                <a:latin typeface="MiSans"/>
                <a:ea typeface="MiSans"/>
              </a:rPr>
              <a:t>优化范式:Reactive → Predictive → Cooperative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Agent 正在改变数据库的使用方式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01 · 背景趋势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海内外数据库产品都在把「用数据的人」换成 Agent —— 但数据库内核还没有为此改变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298448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海外 ·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1572768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664208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Snowflake · Cortex Agents(2025.11 GA)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860804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全托管 Agent 平台:NL→SQL / 检索 / 代码执行,规划—工具—反思循环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093976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Databricks · Genie + Deep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290572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对话式 BI;“为什么”类问题自动规划研究、并行验证假设并归因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23744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Google BigQuery · Data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720339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对话式分析;verified queries + 参数化 SQL 模板保证业务口径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2953511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Microsoft Fabric · Copilot(Agent Mode)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150107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自然语言生成 T-SQL、执行计划分析与优化建议、多步工具调用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298448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国内 · 2025–2026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1572768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664208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阿里云 · Data Agent for Analytics / ADBAgent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54496" y="1860804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企业级数据分析智能体:意图理解→规划→分析→报告,沉淀行业 Skills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4496" y="2093976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OceanBase · AI 数据库(Lakebase)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290572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Agent 记忆、上下文工程、数据沙箱与库级克隆,支撑多 Agent 并行试错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2523744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TiDB · AI Agent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2720339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数据库 Branching、持久记忆、百万级 schema:“为每个 Agent 配一个库”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2953511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腾讯云 · DatabaseClaw / TDSQL-C AI 应用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3150107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自然语言运维:MySQL 工单覆盖 28.4%,CPU 异常诊断 30min→2min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3383279"/>
            <a:ext cx="533095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华为 · GaussDB(AI-Native)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3579875"/>
            <a:ext cx="533095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智能问答 / NL2SQL / 智能诊断,率先通过信通院 AI 数据库工具测评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612648" y="3877056"/>
          <a:ext cx="10972800" cy="1911096"/>
        </p:xfrm>
        <a:graphic>
          <a:graphicData uri="http://schemas.openxmlformats.org/drawingml/2006/table">
            <a:tbl>
              <a:tblPr/>
              <a:tblGrid>
                <a:gridCol w="1600200"/>
                <a:gridCol w="5349240"/>
                <a:gridCol w="402336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布局层面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厂商在做什么,图什么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代表产品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接口层 · NL2SQL / ChatBI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降低用数门槛:用户面从「会 SQL 的人」扩大到全部业务人员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BigQuery Data Agents · Fabric Copilot · ADBAgent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编排层 · 多步推理 / 根因归因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把分析师的探索过程自动化:从被动问答升级为自主交付洞察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Cortex Agents · Genie + Deep Research · Data Agent for Analytics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运维层 · NL 运维 / 智能诊断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运维自治、降低长期总成本(TCO),缓解 DBA 短缺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DatabaseClaw / TDSQL-C AI · GaussDB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平台层 · 记忆 / 沙箱 / Branching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成为 Agent 应用的运行时底座:Git 式秒级分支,供并行试错与回滚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OceanBase Lakebase · TiDB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内核层 · —— 空白 ——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查询处理仍假设 SQL 逐条独立到达、独立优化,对轨迹无感知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← 本课题:轨迹级查询处理与优化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外围四层都在拥抱 Agent,唯独查询处理内核仍是 Agent-Blind —— </a:t>
            </a:r>
            <a:r>
              <a:rPr sz="1200" b="1" i="0">
                <a:solidFill>
                  <a:srgbClr val="FFB3B3"/>
                </a:solidFill>
                <a:latin typeface="MiSans"/>
                <a:ea typeface="MiSans"/>
              </a:rPr>
              <a:t>本课题要补上内核这一层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6583680"/>
            <a:ext cx="868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 i="0">
                <a:solidFill>
                  <a:srgbClr val="A3A3A3"/>
                </a:solidFill>
                <a:latin typeface="MiSans"/>
                <a:ea typeface="MiSans"/>
              </a:rPr>
              <a:t>来源:Snowflake / Databricks / Google Cloud / Microsoft Learn 官方文档;阿里云、OceanBase、PingCAP、腾讯云、华为官方资料(2025–2026)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Agent 的数据访问不是一条 SQL,而是一条结果驱动的查询轨迹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02 ·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一个高层任务 → 一串相互依赖的 SQL:对数据库而言是一种全新的 workload 形态</a:t>
            </a:r>
          </a:p>
        </p:txBody>
      </p:sp>
      <p:sp>
        <p:nvSpPr>
          <p:cNvPr id="6" name="Rectangle 5"/>
          <p:cNvSpPr/>
          <p:nvPr/>
        </p:nvSpPr>
        <p:spPr>
          <a:xfrm>
            <a:off x="1463040" y="1261872"/>
            <a:ext cx="109728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任务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517904"/>
            <a:ext cx="1097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为什么 8 月
收入下降?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98064" y="1261872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98064" y="1316736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98064" y="1517904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按国家统计
8 月收入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1688" y="1261872"/>
            <a:ext cx="10972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316736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r₁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1517904"/>
            <a:ext cx="10972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iSans"/>
                <a:ea typeface="MiSans"/>
              </a:rPr>
              <a:t>加拿大
收入下降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96712" y="1261872"/>
            <a:ext cx="1417320" cy="7772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96712" y="1316736"/>
            <a:ext cx="14173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iSans"/>
                <a:ea typeface="MiSans"/>
              </a:rPr>
              <a:t>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1517904"/>
            <a:ext cx="14173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MiSans"/>
                <a:ea typeface="MiSans"/>
              </a:rPr>
              <a:t>依据结果推理
决定下一条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51775" y="1261872"/>
            <a:ext cx="13258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51775" y="1316736"/>
            <a:ext cx="1325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775" y="1517904"/>
            <a:ext cx="132588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加拿大 ×
产品分析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517904"/>
            <a:ext cx="36576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666666"/>
                </a:solidFill>
                <a:latin typeface="MiSans"/>
                <a:ea typeface="MiSans"/>
              </a:rPr>
              <a:t>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518904" y="1261872"/>
            <a:ext cx="1188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18904" y="1316736"/>
            <a:ext cx="11887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900" b="1" i="0">
                <a:solidFill>
                  <a:srgbClr val="C00000"/>
                </a:solidFill>
                <a:latin typeface="MiSans"/>
                <a:ea typeface="MiSans"/>
              </a:rPr>
              <a:t>qᵀ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1517904"/>
            <a:ext cx="1188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950" b="1" i="0">
                <a:solidFill>
                  <a:srgbClr val="1D1D1A"/>
                </a:solidFill>
                <a:latin typeface="MiSans"/>
                <a:ea typeface="MiSans"/>
              </a:rPr>
              <a:t>时间趋势
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23944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8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7656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1517904"/>
            <a:ext cx="23774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A3A3A3"/>
                </a:solidFill>
                <a:latin typeface="MiSans"/>
                <a:ea typeface="MiSans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" y="2231136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qₜ₊₁ = Agent(Task, Stateₜ, q₊ₜ, r₊ₜ)</a:t>
            </a:r>
            <a:r>
              <a:rPr sz="1100" b="0" i="0">
                <a:solidFill>
                  <a:srgbClr val="666666"/>
                </a:solidFill>
                <a:latin typeface="MiSans"/>
                <a:ea typeface="MiSans"/>
              </a:rPr>
              <a:t>   —— 下一条 SQL 由前序结果与任务状态共同决定;r₁ 若是别的结果,后续轨迹随之完全不同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612648" y="2615184"/>
          <a:ext cx="10972800" cy="2523744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6634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对比维度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人 / 传统应用程序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Data Agent(智能体)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访问模式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手写 SQL 或预定义模板,一次提交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围绕任务连续生成多步 SQL,迭代式访问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查询间关系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彼此独立或弱相关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数据范围、谓词、Join、聚合维度高度相关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下一查询由谁决定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人 / 固定业务逻辑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由前序结果动态决定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未来意图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不可见:存在于人脑或黑盒程序中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可主动暴露:Goal / Plan / Stage / Candidate Actions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访问空间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受 UI、报表模板限制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任意 SQL、跨表 Join、schema 探索,开放且难预测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合适的优化单元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单条查询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完整查询轨迹 τ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未来查询未知，但未来意图部分可见 —— </a:t>
            </a:r>
            <a:r>
              <a:rPr sz="1200" b="1" i="0">
                <a:solidFill>
                  <a:srgbClr val="FFB3B3"/>
                </a:solidFill>
                <a:latin typeface="MiSans"/>
                <a:ea typeface="MiSans"/>
              </a:rPr>
              <a:t>Query Unknown, Intent Visible</a:t>
            </a: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 —— 一种数据库从未面对过的信息条件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单查询最优 ≠ Agent 任务最优:一个带数字的例子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02 · 问题背景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为什么逐条独立优化会输 —— sales 表 20 GB / 1 亿行,8 月子集 10%(2 GB),代价单位任意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16736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q₁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国家　　　</a:t>
            </a: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q₂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加拿大 × 产品　　　</a:t>
            </a:r>
            <a:r>
              <a:rPr sz="1100" b="1" i="0">
                <a:solidFill>
                  <a:srgbClr val="C00000"/>
                </a:solidFill>
                <a:latin typeface="MiSans"/>
                <a:ea typeface="MiSans"/>
              </a:rPr>
              <a:t>q₃</a:t>
            </a: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:8 月 × 加拿大 × 客户类型 —— 三条查询同一数据子集,仅聚合维度不同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64592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1D1D1A"/>
                </a:solidFill>
                <a:latin typeface="MiSans"/>
                <a:ea typeface="MiSans"/>
              </a:rPr>
              <a:t>方案 A · 逐条独立优化(现状)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1928" y="1645920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方案 B · 轨迹感知优化(本课题)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" y="1901952"/>
          <a:ext cx="5303520" cy="1371600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查询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最优计划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代价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q₂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全表扫描 + 过滤 + 聚合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100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合计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同一子集被过滤了三遍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300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81928" y="1901952"/>
          <a:ext cx="5303520" cy="1371600"/>
        </p:xfrm>
        <a:graphic>
          <a:graphicData uri="http://schemas.openxmlformats.org/drawingml/2006/table">
            <a:tbl>
              <a:tblPr/>
              <a:tblGrid>
                <a:gridCol w="502920"/>
                <a:gridCol w="3520440"/>
                <a:gridCol w="1280160"/>
              </a:tblGrid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查询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计划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0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代价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扫描 + 顺带物化 M₁(2 GB)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110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q₂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直接扫 M₁(q₂ ⊆ M₁)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12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q₃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直接扫 M₁(换聚合维度)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12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9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合计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整体成本 ↓ 55%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5000"/>
                        </a:lnSpc>
                      </a:pPr>
                      <a:r>
                        <a:rPr sz="11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134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" y="336499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三条各自最优、无一可再省 —— 但整体在重复劳动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1928" y="336499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950" b="1" i="0">
                <a:solidFill>
                  <a:srgbClr val="C00000"/>
                </a:solidFill>
                <a:latin typeface="MiSans"/>
                <a:ea typeface="MiSans"/>
              </a:rPr>
              <a:t>物化让 q₁ 变贵 10(110 &gt; 100),换回 q₂、q₃ 各省 88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21024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①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C(q₁ + 物化) = 110 &gt; C(q₁) = 100 —— 物化对 q₁ 单独是亏本决策,单查询优化器永远不会主动做;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" y="3858768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②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决策发生在执行 q₁ 的时刻:q₂、q₃ 尚未产生(Agent 还没看到 r₁)—— 没有未来输入,也没有 batch 可看;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4096511"/>
            <a:ext cx="10972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③ 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8 月子集在 q₁ 执行时明明流过内存,却即用即弃 —— 缺的不是数据,是跨查询物理状态机制。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" y="4443984"/>
            <a:ext cx="10972800" cy="402336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443984"/>
            <a:ext cx="1042416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MiSans"/>
                <a:ea typeface="MiSans"/>
              </a:rPr>
              <a:t>Σ min Cost(qᵢ) = 300    ≠    min Cost(q₁, q₂, q₃) = 134</a:t>
            </a:r>
            <a:r>
              <a:rPr sz="1250" b="1" i="0">
                <a:solidFill>
                  <a:srgbClr val="FFB3B3"/>
                </a:solidFill>
                <a:latin typeface="MiSans"/>
                <a:ea typeface="MiSans"/>
              </a:rPr>
              <a:t>    → 目标升级为 minₜ Cost(τ, π)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5029200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Challenge|为什么难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" y="5303520"/>
            <a:ext cx="53035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358384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下一条 SQL 此刻不存在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决策时 qₜ₊₁ 尚未产生,优化器没有未来输入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555955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未来由当前结果决定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qₜ₊₁ = Agent(rₜ, Stateₜ),rₜ 未知则方向未知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" y="5760720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意图 ≠ SQL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意图不保证兑现,也不唯一对应具体查询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5961888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单查询目标错位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跨查询收益不在任何单条查询的目标函数内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6163055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准备必须先花钱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收益是概率性的,代价是即时且确定的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6364223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状态不能无限堆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每条查询都留中间结果会压垮系统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5029200"/>
            <a:ext cx="5303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C00000"/>
                </a:solidFill>
                <a:latin typeface="MiSans"/>
                <a:ea typeface="MiSans"/>
              </a:rPr>
              <a:t>Opportunity|为什么有机会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81928" y="5303520"/>
            <a:ext cx="53035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81928" y="5358384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Goal-Driven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多条查询围绕同一高层任务,方向可预期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5559552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Intent-Exposable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SQL 未生成,Agent 意图已可提前暴露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81928" y="5760720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子集 / 聚合相关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q₂ ⊆ q₁、q₃ = Agg(q₂) 等关系大量存在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5961888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中间结果在流动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子集流过内存,只是即用即弃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81928" y="6163055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动作空间统一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物化 / 索引 / 预取 / 保留 / 淘汰,皆为物理状态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81928" y="6364223"/>
            <a:ext cx="530352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1" i="0">
                <a:solidFill>
                  <a:srgbClr val="C00000"/>
                </a:solidFill>
                <a:latin typeface="MiSans"/>
                <a:ea typeface="MiSans"/>
              </a:rPr>
              <a:t>上游生态就绪</a:t>
            </a: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 —— Cortex Agents / Genie 等可供给机器可读意图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业务价值:从 Query Latency 到 Agent Task Completion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03 · 业务价值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学术新问题 × 工程真问题 —— 既有新的信息条件与优化范式,也有真实的成本、规模与体验压力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1335024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 b="0" i="0">
                <a:solidFill>
                  <a:srgbClr val="4D4D4D"/>
                </a:solidFill>
                <a:latin typeface="MiSans"/>
                <a:ea typeface="MiSans"/>
              </a:rPr>
              <a:t>Agent 正成为数据库新的、高增长的数据访问主体:一个任务产生数条至数十条相关 SQL;云端按量计费(credits / Request Unit)下,重复计算就是直接浪费。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956816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① 端到端任务提速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" y="2231136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2340864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优化目标跃迁:</a:t>
            </a:r>
            <a:r>
              <a:rPr sz="1050" b="1" i="0">
                <a:solidFill>
                  <a:srgbClr val="C00000"/>
                </a:solidFill>
                <a:latin typeface="MiSans"/>
                <a:ea typeface="MiSans"/>
              </a:rPr>
              <a:t>Query Latency → Trajectory Cost → Task Completion Time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消除轨迹中的重复扫描 / Join / 聚合,多轮分析整体提速;Agent 迭代越快,洞察交付越快。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1956816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② 计算与 Token 成本双降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54496" y="2231136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4496" y="2340864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查询更快 → Agent 每轮等待更短 → 相同预算完成更多分析轮次。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iSans"/>
                <a:ea typeface="MiSans"/>
              </a:rPr>
              <a:t>参照:腾讯云 AI 诊断将 CPU 异常定位从 30 分钟压缩到 2 分钟。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913632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③ Agent 规模化的基础设施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4187952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297680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上线规模 = 并发 Agent 数 × 每 SQL 成本,内核吞吐是天花板。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666666"/>
                </a:solidFill>
                <a:latin typeface="MiSans"/>
                <a:ea typeface="MiSans"/>
              </a:rPr>
              <a:t>“数据库的主要用户不再是人类,而是 AI Agent” —— PingCAP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3913632"/>
            <a:ext cx="53309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④ 与 Agent 产品生态互补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54496" y="4187952"/>
            <a:ext cx="5330952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4297680"/>
            <a:ext cx="5330952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上游解决「生成正确的 SQL」,本课题解决「高效执行整条轨迹」。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 i="0">
                <a:solidFill>
                  <a:srgbClr val="4D4D4D"/>
                </a:solidFill>
                <a:latin typeface="MiSans"/>
                <a:ea typeface="MiSans"/>
              </a:rPr>
              <a:t>物化 / 索引 / 预取决策在内核完成,对 Agent 透明,可嵌入任何 Data Agent 产品。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779008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关键判断:</a:t>
            </a:r>
            <a:r>
              <a:rPr sz="1200" b="1" i="0">
                <a:solidFill>
                  <a:srgbClr val="1D1D1A"/>
                </a:solidFill>
                <a:latin typeface="MiSans"/>
                <a:ea typeface="MiSans"/>
              </a:rPr>
              <a:t>这是与模型能力提升正交、可以由系统侧直接获取的性能收益 —— 不依赖更强的模型,只依赖更懂 Agent 的数据库。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落地场景:ChatBI / Deep Research 归因 · 企业级 Data Agent · 自动化运维 Agent · 多租户 SaaS 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已有系统如何获得「未来工作负载」信息:四种范式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相关工作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按「数据库做当前决策时,对未来 workload 知道什么」归类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298448"/>
          <a:ext cx="10972800" cy="3236976"/>
        </p:xfrm>
        <a:graphic>
          <a:graphicData uri="http://schemas.openxmlformats.org/drawingml/2006/table">
            <a:tbl>
              <a:tblPr/>
              <a:tblGrid>
                <a:gridCol w="1600200"/>
                <a:gridCol w="2240280"/>
                <a:gridCol w="2240280"/>
                <a:gridCol w="2240280"/>
                <a:gridCol w="265176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Ⅰ Current-Query
无未来信息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Ⅱ Known-Future
未来查询已知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Ⅲ Inferred-Future
从历史推断未来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0000"/>
                        </a:lnSpc>
                      </a:pPr>
                      <a:r>
                        <a:rPr sz="10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Ⅳ Exposed-Future
意图可暴露 ★ 本课题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信息条件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当前查询 + Schema + 统计信息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qₜ₊₁, qₜ₊₂, … 直接可见(显式 + 确定)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P(W_f | W_past) — 隐式 + 概率性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qₜ₊₁ 未知,但 Goal / Plan / Stage / CandidateActions 可暴露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回答的问题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“这条查询怎么执行最便宜?”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“给定整批 workload,如何共享执行?”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“根据过去的行为,接下来可能访问什么?”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“负载生成者接下来想做什么,我现在该准备什么?”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代表系统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传统 Query Optimizer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MQO · ReProVide · AutoCox(procedural SQL)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HAWC · HashStash · SparkCruise · ForeCache · PreView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本课题:Agent–DB 协同优化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特点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Reactive:查询到达 → 优化 → 执行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Perfect Foresight:直接规划跨查询共享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Behavior-Driven:由观察反推未来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Query Unknown, Intent Visible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12648" y="4828032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200" b="1" i="0">
                <a:solidFill>
                  <a:srgbClr val="1D1D1A"/>
                </a:solidFill>
                <a:latin typeface="MiSans"/>
                <a:ea typeface="MiSans"/>
              </a:rPr>
              <a:t>关键差异不在「是否预测未来」,而在「未来信息从哪里来」:</a:t>
            </a:r>
            <a:r>
              <a:rPr sz="1200" b="1" i="0">
                <a:solidFill>
                  <a:srgbClr val="C00000"/>
                </a:solidFill>
                <a:latin typeface="MiSans"/>
                <a:ea typeface="MiSans"/>
              </a:rPr>
              <a:t>观察行为推断 → 生成者主动暴露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5138928"/>
            <a:ext cx="10972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100" b="0" i="0">
                <a:solidFill>
                  <a:srgbClr val="4D4D4D"/>
                </a:solidFill>
                <a:latin typeface="MiSans"/>
                <a:ea typeface="MiSans"/>
              </a:rPr>
              <a:t>范式演进:Reactive(只看当前查询)→ Predictive(从历史预测未来)→ Cooperative(意图 + 轨迹观测协同)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5742432"/>
            <a:ext cx="10972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50" b="0" i="0">
                <a:solidFill>
                  <a:srgbClr val="A3A3A3"/>
                </a:solidFill>
                <a:latin typeface="MiSans"/>
                <a:ea typeface="MiSans"/>
              </a:rPr>
              <a:t>注:PreView(2026)、AutoCox(2026, Data &amp; Knowledge Engineering)为近年工作,正式版将补充完整引用。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Sans"/>
                <a:ea typeface="MiSans"/>
              </a:rPr>
              <a:t>信息条件升级:P(W_f | W_past)  →  P(W_f | W_past, R_past, AgentContext)</a:t>
            </a:r>
            <a:r>
              <a:rPr sz="1150" b="1" i="0">
                <a:solidFill>
                  <a:srgbClr val="FFB3B3"/>
                </a:solidFill>
                <a:latin typeface="MiSans"/>
                <a:ea typeface="MiSans"/>
              </a:rPr>
              <a:t>    —— 未来意图第一次由 workload generator 主动提供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研究现状全景:与六类相关工作的系统对比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相关工作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16 个比较维度 × 6 个研究方向;✓ 具备 / ✗ 不具备 / △ 部分具备或视情况,红色列为本研究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12648" y="1280160"/>
          <a:ext cx="10963656" cy="4700004"/>
        </p:xfrm>
        <a:graphic>
          <a:graphicData uri="http://schemas.openxmlformats.org/drawingml/2006/table">
            <a:tbl>
              <a:tblPr/>
              <a:tblGrid>
                <a:gridCol w="1691640"/>
                <a:gridCol w="1545336"/>
                <a:gridCol w="1545336"/>
                <a:gridCol w="1545336"/>
                <a:gridCol w="1545336"/>
                <a:gridCol w="1545336"/>
                <a:gridCol w="1545336"/>
              </a:tblGrid>
              <a:tr h="438912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比较维度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Traditional Query Optimization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MQO / Known Query Sequence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History-Aware Reuse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Interactive / Predictive Exploration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Agentic Query / Workflow Systems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本研究：Agent-Aware Trajectory Optimization</a:t>
                      </a:r>
                    </a:p>
                  </a:txBody>
                  <a:tcPr anchor="ctr" marL="91440" marR="73152" marT="18288" marB="18288">
                    <a:noFill/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主要优化单元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单条 Query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batch / 已知 sequence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history + current query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Interactive session / future access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Agentic plan / workflow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Evolving Agent query trajectory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未来具体 Query 是否可见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△，取决于 workflow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未来访问是否可预测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不需要预测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△，从历史 reuse pattern 推断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✓，从历史/交互行为预测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intent 是否直接可见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Query 本身已知，因此通常不需要 intent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✗，用户 intent 通常是黑盒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 / 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✓，作为核心输入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Workload generator 是否参与优化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 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✓，Agent 属于执行系统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✓，Agent 与 DB 显式协同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query 是否受当前结果影响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不考虑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通常已固定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✓，核心 workload 特征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Future uncertainty 是否显式建模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✓，作为优化问题的一部分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跨 Query 共享计算/结果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mechanism-specific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通常不是核心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主动创建 Future-Oriented Physical State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 / 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✓，通常针对特定机制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✓，核心能力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物化结果 / Intermediate Reuse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当前 Query 内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Prefetch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execution-level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Ephemeral Physical Design / Index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现有 index selection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部分，如 procedural SQL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较少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较少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非核心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✓，潜在统一 action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多类 Physical State 的统一决策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666666"/>
                          </a:solidFill>
                          <a:latin typeface="MiSans"/>
                          <a:ea typeface="MiSans"/>
                        </a:rPr>
                        <a:t>△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通常单机制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A3A3A3"/>
                          </a:solidFill>
                          <a:latin typeface="MiSans"/>
                          <a:ea typeface="MiSans"/>
                        </a:rPr>
                        <a:t>✗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目标：✓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核心 Future 信息来源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无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未来 Query 本身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Past Queries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Past Queries / User Behavior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 workflow state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Agent Intent + Trajectory Observation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信息状态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No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Known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Inferred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Inferred Future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Agent-Aware</a:t>
                      </a:r>
                    </a:p>
                  </a:txBody>
                  <a:tcPr anchor="ctr" marL="91440" marR="7315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Exposed but Uncertain Future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750" b="1" i="0">
                          <a:solidFill>
                            <a:srgbClr val="1D1D1A"/>
                          </a:solidFill>
                          <a:latin typeface="MiSans"/>
                          <a:ea typeface="MiSans"/>
                        </a:rPr>
                        <a:t>核心优化目标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Current-query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Batch / sequence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Future query reuse benefit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Interactive latency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0" i="0">
                          <a:solidFill>
                            <a:srgbClr val="4D4D4D"/>
                          </a:solidFill>
                          <a:latin typeface="MiSans"/>
                          <a:ea typeface="MiSans"/>
                        </a:rPr>
                        <a:t>Quality / workflow cost</a:t>
                      </a:r>
                    </a:p>
                  </a:txBody>
                  <a:tcPr anchor="ctr" marL="91440" marR="7315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800" b="1" i="0">
                          <a:solidFill>
                            <a:srgbClr val="C00000"/>
                          </a:solidFill>
                          <a:latin typeface="MiSans"/>
                          <a:ea typeface="MiSans"/>
                        </a:rPr>
                        <a:t>Expected trajectory-level DB cost</a:t>
                      </a:r>
                    </a:p>
                  </a:txBody>
                  <a:tcPr anchor="ctr" marL="91440" marR="73152" marT="18288" marB="18288">
                    <a:solidFill>
                      <a:srgbClr val="FAEC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最关键的差异不是「本研究一列 ✓ 最多」,而是前三个未来信息维度 —— </a:t>
            </a:r>
            <a:r>
              <a:rPr sz="1150" b="1" i="0">
                <a:solidFill>
                  <a:srgbClr val="FFB3B3"/>
                </a:solidFill>
                <a:latin typeface="MiSans"/>
                <a:ea typeface="MiSans"/>
              </a:rPr>
              <a:t>Future Query Visibility / Predictability / Intent Visibility</a:t>
            </a: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 —— 它们定义了根本的信息条件差异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329184"/>
            <a:ext cx="8869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500" b="1" i="0">
                <a:solidFill>
                  <a:srgbClr val="1D1D1A"/>
                </a:solidFill>
                <a:latin typeface="MiSans"/>
                <a:ea typeface="MiSans"/>
              </a:rPr>
              <a:t>研究空白:Future Query Unknown, Future Intent Visible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95360" y="457200"/>
            <a:ext cx="2990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1000" b="0" i="0">
                <a:solidFill>
                  <a:srgbClr val="A3A3A3"/>
                </a:solidFill>
                <a:latin typeface="MiSans"/>
                <a:ea typeface="MiSans"/>
              </a:rPr>
              <a:t>04 · 研究定位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648" y="859536"/>
            <a:ext cx="585216" cy="36576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969264"/>
            <a:ext cx="10972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666666"/>
                </a:solidFill>
                <a:latin typeface="MiSans"/>
                <a:ea typeface="MiSans"/>
              </a:rPr>
              <a:t>两个维度定位全部相关工作:未来查询可见性 × 负载生成者可见性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1371600"/>
            <a:ext cx="2377440" cy="1938528"/>
          </a:xfrm>
          <a:prstGeom prst="rect">
            <a:avLst/>
          </a:prstGeom>
          <a:solidFill>
            <a:srgbClr val="F2F2F2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8132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300" b="1" i="0">
                <a:solidFill>
                  <a:srgbClr val="C00000"/>
                </a:solidFill>
                <a:latin typeface="MiSans"/>
                <a:ea typeface="MiSans"/>
              </a:rPr>
              <a:t>★ 本课题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1D1D1A"/>
                </a:solidFill>
                <a:latin typeface="MiSans"/>
                <a:ea typeface="MiSans"/>
              </a:rPr>
              <a:t>Query Unknown, Intent Visible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Agent 暴露意图 + 轨迹观测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→ 跨查询物理状态优化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48132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050" b="1" i="0">
                <a:solidFill>
                  <a:srgbClr val="666666"/>
                </a:solidFill>
                <a:latin typeface="MiSans"/>
                <a:ea typeface="MiSans"/>
              </a:rPr>
              <a:t>计划完全确定的 Agent 工作流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A3A3A3"/>
                </a:solidFill>
                <a:latin typeface="MiSans"/>
                <a:ea typeface="MiSans"/>
              </a:rPr>
              <a:t>query 已知 + 生成者可见(退化 / 少见情形)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9300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Inferred-Future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EDA · ForeCache · HAWC · SparkCruise · PreView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观察行为 → 推断未来(黑盒生成者)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493008"/>
            <a:ext cx="2286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 i="0">
                <a:solidFill>
                  <a:srgbClr val="1D1D1A"/>
                </a:solidFill>
                <a:latin typeface="MiSans"/>
                <a:ea typeface="MiSans"/>
              </a:rPr>
              <a:t>Known-Future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4D4D4D"/>
                </a:solidFill>
                <a:latin typeface="MiSans"/>
                <a:ea typeface="MiSans"/>
              </a:rPr>
              <a:t>MQO · ReProVide · AutoCox</a:t>
            </a: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未来 query 直接可见(Perfect Foresight)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5440680"/>
            <a:ext cx="5074920" cy="16459"/>
          </a:xfrm>
          <a:prstGeom prst="rect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 rot="5400000">
            <a:off x="5943600" y="5362956"/>
            <a:ext cx="146304" cy="164592"/>
          </a:xfrm>
          <a:prstGeom prst="triangle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41264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Future Query Visibility:Unknown → Known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1325880"/>
            <a:ext cx="16459" cy="4114800"/>
          </a:xfrm>
          <a:prstGeom prst="rect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845820" y="1298448"/>
            <a:ext cx="146304" cy="164592"/>
          </a:xfrm>
          <a:prstGeom prst="triangle">
            <a:avLst/>
          </a:prstGeom>
          <a:solidFill>
            <a:srgbClr val="1D1D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377440"/>
            <a:ext cx="384048" cy="2011680"/>
          </a:xfrm>
          <a:prstGeom prst="rect">
            <a:avLst/>
          </a:prstGeom>
          <a:noFill/>
        </p:spPr>
        <p:txBody>
          <a:bodyPr wrap="square" anchor="ctr" lIns="0" rIns="0" tIns="0" bIns="0" vert="vert270">
            <a:spAutoFit/>
          </a:bodyPr>
          <a:lstStyle/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000" b="1" i="0">
                <a:solidFill>
                  <a:srgbClr val="1D1D1A"/>
                </a:solidFill>
                <a:latin typeface="MiSans"/>
                <a:ea typeface="MiSans"/>
              </a:rPr>
              <a:t>Workload Generator Visibility:Black-box → Intent Visible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587044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666666"/>
                </a:solidFill>
                <a:latin typeface="MiSans"/>
                <a:ea typeface="MiSans"/>
              </a:rPr>
              <a:t>Agentic systems 让 workload generator 第一次变得可观察,但其优化对象是 Agent 的动作流,而非 DB 的跨查询物理状态。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129844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1" i="0">
                <a:solidFill>
                  <a:srgbClr val="1D1D1A"/>
                </a:solidFill>
                <a:latin typeface="MiSans"/>
                <a:ea typeface="MiSans"/>
              </a:rPr>
              <a:t>与最近邻的三个本质差异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20840" y="1572768"/>
            <a:ext cx="4846320" cy="10972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20840" y="1737360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① Intent before Query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011679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未来 SQL 生成之前,Agent 已可暴露 Goal / Stage / Candidate Actions;信息来源从「观察行为」变为「生成者主动供给」。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03580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② Uncertain by Nature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310127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Intent ≠ Future SQL:后续查询仍由中间结果驱动,可能随时转向;不确定性必须显式进入优化问题。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33425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1" i="0">
                <a:solidFill>
                  <a:srgbClr val="C00000"/>
                </a:solidFill>
                <a:latin typeface="MiSans"/>
                <a:ea typeface="MiSans"/>
              </a:rPr>
              <a:t>③ Optimize Physical State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608576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0" i="0">
                <a:solidFill>
                  <a:srgbClr val="4D4D4D"/>
                </a:solidFill>
                <a:latin typeface="MiSans"/>
                <a:ea typeface="MiSans"/>
              </a:rPr>
              <a:t>数据库将意图转化为 retain / materialize / prefetch / index / evict 决策 ——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050" b="1" i="0">
                <a:solidFill>
                  <a:srgbClr val="C00000"/>
                </a:solidFill>
                <a:latin typeface="MiSans"/>
                <a:ea typeface="MiSans"/>
              </a:rPr>
              <a:t>Agent-Aware Cross-Query Physical State Management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" y="6144768"/>
            <a:ext cx="10972800" cy="384048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6144768"/>
            <a:ext cx="104241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MiSans"/>
                <a:ea typeface="MiSans"/>
              </a:rPr>
              <a:t>Known → Inferred → Exposed Future      |      Reactive → Predictive → Cooperative      |      </a:t>
            </a:r>
            <a:r>
              <a:rPr sz="1200" b="1" i="0">
                <a:solidFill>
                  <a:srgbClr val="FFB3B3"/>
                </a:solidFill>
                <a:latin typeface="MiSans"/>
                <a:ea typeface="MiSans"/>
              </a:rPr>
              <a:t>Query Unknown, Intent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583680"/>
            <a:ext cx="841248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300"/>
              </a:spcAft>
            </a:pPr>
            <a:r>
              <a:rPr sz="900" b="0" i="0">
                <a:solidFill>
                  <a:srgbClr val="A3A3A3"/>
                </a:solidFill>
                <a:latin typeface="MiSans"/>
                <a:ea typeface="MiSans"/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